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6400800" cy="248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1"/>
  </p:normalViewPr>
  <p:slideViewPr>
    <p:cSldViewPr snapToGrid="0" snapToObjects="1">
      <p:cViewPr>
        <p:scale>
          <a:sx n="239" d="100"/>
          <a:sy n="239" d="100"/>
        </p:scale>
        <p:origin x="-48" y="9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:p-cc 框">
            <a:extLst>
              <a:ext uri="{FF2B5EF4-FFF2-40B4-BE49-F238E27FC236}">
                <a16:creationId xmlns:a16="http://schemas.microsoft.com/office/drawing/2014/main" id="{4816A28C-3C85-4CBC-EBF5-8EC2FA1564E8}"/>
              </a:ext>
            </a:extLst>
          </p:cNvPr>
          <p:cNvSpPr/>
          <p:nvPr/>
        </p:nvSpPr>
        <p:spPr>
          <a:xfrm>
            <a:off x="3718080" y="1116963"/>
            <a:ext cx="1117600" cy="431800"/>
          </a:xfrm>
          <a:prstGeom prst="roundRect">
            <a:avLst>
              <a:gd name="adj" fmla="val 4411"/>
            </a:avLst>
          </a:prstGeom>
          <a:solidFill>
            <a:srgbClr val="FDEBDD"/>
          </a:solidFill>
          <a:ln w="9144" cap="flat">
            <a:solidFill>
              <a:srgbClr val="C2410C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70" name="p:p-free"/>
          <p:cNvGrpSpPr/>
          <p:nvPr/>
        </p:nvGrpSpPr>
        <p:grpSpPr>
          <a:xfrm>
            <a:off x="886567" y="330200"/>
            <a:ext cx="1481328" cy="1905000"/>
            <a:chOff x="301117" y="330200"/>
            <a:chExt cx="1481328" cy="1905000"/>
          </a:xfrm>
        </p:grpSpPr>
        <p:sp>
          <p:nvSpPr>
            <p:cNvPr id="3" name="p:p-free 线"/>
            <p:cNvSpPr/>
            <p:nvPr/>
          </p:nvSpPr>
          <p:spPr>
            <a:xfrm>
              <a:off x="457200" y="901700"/>
              <a:ext cx="203200" cy="558800"/>
            </a:xfrm>
            <a:custGeom>
              <a:avLst/>
              <a:gdLst/>
              <a:ahLst/>
              <a:cxnLst/>
              <a:rect l="0" t="0" r="r" b="b"/>
              <a:pathLst>
                <a:path w="16000" h="44000" fill="none">
                  <a:moveTo>
                    <a:pt x="16000" y="44000"/>
                  </a:moveTo>
                  <a:lnTo>
                    <a:pt x="0" y="44000"/>
                  </a:lnTo>
                  <a:lnTo>
                    <a:pt x="0" y="0"/>
                  </a:lnTo>
                  <a:lnTo>
                    <a:pt x="16000" y="0"/>
                  </a:lnTo>
                </a:path>
              </a:pathLst>
            </a:custGeom>
            <a:noFill/>
            <a:ln w="9144" cap="flat">
              <a:solidFill>
                <a:srgbClr val="868686"/>
              </a:solidFill>
              <a:custDash>
                <a:ds d="347222" sp="263888"/>
              </a:custDash>
              <a:miter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" name="p:p-free 文字"/>
            <p:cNvSpPr txBox="1"/>
            <p:nvPr/>
          </p:nvSpPr>
          <p:spPr>
            <a:xfrm rot="16200000">
              <a:off x="203327" y="1097280"/>
              <a:ext cx="36322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4E4E4E"/>
                  </a:solidFill>
                  <a:latin typeface="Helvetica Neue"/>
                  <a:ea typeface="Microsoft YaHei"/>
                </a:rPr>
                <a:t>iterate</a:t>
              </a:r>
            </a:p>
          </p:txBody>
        </p:sp>
        <p:cxnSp>
          <p:nvCxnSpPr>
            <p:cNvPr id="5" name="p:p-free 线"/>
            <p:cNvCxnSpPr/>
            <p:nvPr/>
          </p:nvCxnSpPr>
          <p:spPr>
            <a:xfrm>
              <a:off x="1219200" y="1676400"/>
              <a:ext cx="0" cy="228600"/>
            </a:xfrm>
            <a:prstGeom prst="line">
              <a:avLst/>
            </a:prstGeom>
            <a:ln w="9144" cap="flat">
              <a:solidFill>
                <a:srgbClr val="868686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p:p-free 线"/>
            <p:cNvCxnSpPr/>
            <p:nvPr/>
          </p:nvCxnSpPr>
          <p:spPr>
            <a:xfrm>
              <a:off x="1219200" y="1016000"/>
              <a:ext cx="0" cy="228600"/>
            </a:xfrm>
            <a:prstGeom prst="line">
              <a:avLst/>
            </a:prstGeom>
            <a:ln w="9144" cap="flat">
              <a:solidFill>
                <a:srgbClr val="868686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p:p-free 线"/>
            <p:cNvCxnSpPr/>
            <p:nvPr/>
          </p:nvCxnSpPr>
          <p:spPr>
            <a:xfrm>
              <a:off x="1219200" y="558800"/>
              <a:ext cx="0" cy="228600"/>
            </a:xfrm>
            <a:prstGeom prst="line">
              <a:avLst/>
            </a:prstGeom>
            <a:ln w="9144" cap="flat">
              <a:solidFill>
                <a:srgbClr val="868686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p:p-free 框"/>
            <p:cNvSpPr/>
            <p:nvPr/>
          </p:nvSpPr>
          <p:spPr>
            <a:xfrm>
              <a:off x="914400" y="330200"/>
              <a:ext cx="609600" cy="2286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9" name="p:p-free 文字"/>
            <p:cNvSpPr txBox="1"/>
            <p:nvPr/>
          </p:nvSpPr>
          <p:spPr>
            <a:xfrm>
              <a:off x="1033780" y="346011"/>
              <a:ext cx="37084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 b="0" i="0" dirty="0">
                  <a:solidFill>
                    <a:srgbClr val="262626"/>
                  </a:solidFill>
                  <a:latin typeface="Helvetica Neue"/>
                  <a:ea typeface="Microsoft YaHei"/>
                </a:rPr>
                <a:t>Task</a:t>
              </a:r>
            </a:p>
          </p:txBody>
        </p:sp>
        <p:sp>
          <p:nvSpPr>
            <p:cNvPr id="10" name="p:p-free 框"/>
            <p:cNvSpPr/>
            <p:nvPr/>
          </p:nvSpPr>
          <p:spPr>
            <a:xfrm>
              <a:off x="660400" y="787400"/>
              <a:ext cx="1117600" cy="228600"/>
            </a:xfrm>
            <a:prstGeom prst="roundRect">
              <a:avLst>
                <a:gd name="adj" fmla="val 8333"/>
              </a:avLst>
            </a:prstGeom>
            <a:solidFill>
              <a:srgbClr val="E7E7E7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" name="p:p-free 文字"/>
            <p:cNvSpPr txBox="1"/>
            <p:nvPr/>
          </p:nvSpPr>
          <p:spPr>
            <a:xfrm>
              <a:off x="1043940" y="803211"/>
              <a:ext cx="35052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LLM</a:t>
              </a:r>
            </a:p>
          </p:txBody>
        </p:sp>
        <p:sp>
          <p:nvSpPr>
            <p:cNvPr id="12" name="p:p-free 框"/>
            <p:cNvSpPr/>
            <p:nvPr/>
          </p:nvSpPr>
          <p:spPr>
            <a:xfrm>
              <a:off x="660400" y="1244600"/>
              <a:ext cx="1117600" cy="431800"/>
            </a:xfrm>
            <a:prstGeom prst="roundRect">
              <a:avLst>
                <a:gd name="adj" fmla="val 4411"/>
              </a:avLst>
            </a:prstGeom>
            <a:solidFill>
              <a:srgbClr val="F2F2F2"/>
            </a:solidFill>
            <a:ln w="9144" cap="flat">
              <a:solidFill>
                <a:srgbClr val="8C8C8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p:p-free 框"/>
            <p:cNvSpPr/>
            <p:nvPr/>
          </p:nvSpPr>
          <p:spPr>
            <a:xfrm rot="21060000">
              <a:off x="748228" y="1434184"/>
              <a:ext cx="190500" cy="139700"/>
            </a:xfrm>
            <a:prstGeom prst="roundRect">
              <a:avLst>
                <a:gd name="adj" fmla="val 9090"/>
              </a:avLst>
            </a:prstGeom>
            <a:solidFill>
              <a:srgbClr val="FFFFFF"/>
            </a:solidFill>
            <a:ln w="7620" cap="flat">
              <a:solidFill>
                <a:srgbClr val="8C8C8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4" name="p:p-free 线"/>
            <p:cNvSpPr/>
            <p:nvPr/>
          </p:nvSpPr>
          <p:spPr>
            <a:xfrm>
              <a:off x="776786" y="1472987"/>
              <a:ext cx="130403" cy="78611"/>
            </a:xfrm>
            <a:custGeom>
              <a:avLst/>
              <a:gdLst/>
              <a:ahLst/>
              <a:cxnLst/>
              <a:rect l="0" t="0" r="r" b="b"/>
              <a:pathLst>
                <a:path w="10267" h="6189" fill="none">
                  <a:moveTo>
                    <a:pt x="0" y="1251"/>
                  </a:moveTo>
                  <a:lnTo>
                    <a:pt x="7902" y="0"/>
                  </a:lnTo>
                  <a:moveTo>
                    <a:pt x="391" y="3721"/>
                  </a:moveTo>
                  <a:lnTo>
                    <a:pt x="10268" y="2156"/>
                  </a:lnTo>
                  <a:moveTo>
                    <a:pt x="782" y="6190"/>
                  </a:moveTo>
                  <a:lnTo>
                    <a:pt x="6708" y="5251"/>
                  </a:lnTo>
                </a:path>
              </a:pathLst>
            </a:custGeom>
            <a:noFill/>
            <a:ln w="7620" cap="flat">
              <a:solidFill>
                <a:srgbClr val="8C8C8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p:p-free 框"/>
            <p:cNvSpPr/>
            <p:nvPr/>
          </p:nvSpPr>
          <p:spPr>
            <a:xfrm rot="420000">
              <a:off x="1003252" y="1442223"/>
              <a:ext cx="215900" cy="101600"/>
            </a:xfrm>
            <a:prstGeom prst="roundRect">
              <a:avLst>
                <a:gd name="adj" fmla="val 12500"/>
              </a:avLst>
            </a:prstGeom>
            <a:solidFill>
              <a:srgbClr val="FFFFFF"/>
            </a:solidFill>
            <a:ln w="7620" cap="flat">
              <a:solidFill>
                <a:srgbClr val="8C8C8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cxnSp>
          <p:nvCxnSpPr>
            <p:cNvPr id="16" name="p:p-free 线"/>
            <p:cNvCxnSpPr/>
            <p:nvPr/>
          </p:nvCxnSpPr>
          <p:spPr>
            <a:xfrm>
              <a:off x="1035570" y="1451987"/>
              <a:ext cx="138659" cy="17025"/>
            </a:xfrm>
            <a:prstGeom prst="line">
              <a:avLst/>
            </a:prstGeom>
            <a:ln w="7620" cap="flat">
              <a:solidFill>
                <a:srgbClr val="8C8C8C"/>
              </a:solidFill>
              <a:miter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p:p-free 线"/>
            <p:cNvSpPr/>
            <p:nvPr/>
          </p:nvSpPr>
          <p:spPr>
            <a:xfrm>
              <a:off x="1241365" y="1489864"/>
              <a:ext cx="253381" cy="106401"/>
            </a:xfrm>
            <a:custGeom>
              <a:avLst/>
              <a:gdLst/>
              <a:ahLst/>
              <a:cxnLst/>
              <a:rect l="0" t="0" r="r" b="b"/>
              <a:pathLst>
                <a:path w="19951" h="8378" fill="none">
                  <a:moveTo>
                    <a:pt x="0" y="1395"/>
                  </a:moveTo>
                  <a:lnTo>
                    <a:pt x="19951" y="0"/>
                  </a:lnTo>
                  <a:moveTo>
                    <a:pt x="244" y="4887"/>
                  </a:moveTo>
                  <a:lnTo>
                    <a:pt x="14210" y="3910"/>
                  </a:lnTo>
                  <a:moveTo>
                    <a:pt x="488" y="8378"/>
                  </a:moveTo>
                  <a:lnTo>
                    <a:pt x="18444" y="7122"/>
                  </a:lnTo>
                </a:path>
              </a:pathLst>
            </a:custGeom>
            <a:noFill/>
            <a:ln w="7620" cap="flat">
              <a:solidFill>
                <a:srgbClr val="8C8C8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p:p-free 框"/>
            <p:cNvSpPr/>
            <p:nvPr/>
          </p:nvSpPr>
          <p:spPr>
            <a:xfrm rot="600000">
              <a:off x="1560997" y="1396903"/>
              <a:ext cx="127000" cy="1651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7620" cap="flat">
              <a:solidFill>
                <a:srgbClr val="8C8C8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p:p-free 线"/>
            <p:cNvSpPr/>
            <p:nvPr/>
          </p:nvSpPr>
          <p:spPr>
            <a:xfrm>
              <a:off x="1586613" y="1436419"/>
              <a:ext cx="75767" cy="86069"/>
            </a:xfrm>
            <a:custGeom>
              <a:avLst/>
              <a:gdLst/>
              <a:ahLst/>
              <a:cxnLst/>
              <a:rect l="0" t="0" r="r" b="b"/>
              <a:pathLst>
                <a:path w="5965" h="6777" fill="none">
                  <a:moveTo>
                    <a:pt x="1042" y="0"/>
                  </a:moveTo>
                  <a:lnTo>
                    <a:pt x="5966" y="868"/>
                  </a:lnTo>
                  <a:moveTo>
                    <a:pt x="521" y="2954"/>
                  </a:moveTo>
                  <a:lnTo>
                    <a:pt x="4460" y="3649"/>
                  </a:lnTo>
                  <a:moveTo>
                    <a:pt x="0" y="5909"/>
                  </a:moveTo>
                  <a:lnTo>
                    <a:pt x="4924" y="6777"/>
                  </a:lnTo>
                </a:path>
              </a:pathLst>
            </a:custGeom>
            <a:noFill/>
            <a:ln w="7620" cap="flat">
              <a:solidFill>
                <a:srgbClr val="8C8C8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p:p-free 文字"/>
            <p:cNvSpPr txBox="1"/>
            <p:nvPr/>
          </p:nvSpPr>
          <p:spPr>
            <a:xfrm>
              <a:off x="655955" y="1241361"/>
              <a:ext cx="112649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Arbitrary programs / text</a:t>
              </a:r>
            </a:p>
          </p:txBody>
        </p:sp>
        <p:sp>
          <p:nvSpPr>
            <p:cNvPr id="22" name="p:p-free 框"/>
            <p:cNvSpPr/>
            <p:nvPr/>
          </p:nvSpPr>
          <p:spPr>
            <a:xfrm>
              <a:off x="660400" y="1905000"/>
              <a:ext cx="1117600" cy="330200"/>
            </a:xfrm>
            <a:prstGeom prst="roundRect">
              <a:avLst>
                <a:gd name="adj" fmla="val 5769"/>
              </a:avLst>
            </a:prstGeom>
            <a:solidFill>
              <a:srgbClr val="F2F2F2"/>
            </a:solidFill>
            <a:ln w="9144" cap="flat">
              <a:solidFill>
                <a:srgbClr val="8C8C8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3" name="p:p-free 文字"/>
            <p:cNvSpPr txBox="1"/>
            <p:nvPr/>
          </p:nvSpPr>
          <p:spPr>
            <a:xfrm>
              <a:off x="981710" y="1924621"/>
              <a:ext cx="47498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Answer</a:t>
              </a:r>
            </a:p>
          </p:txBody>
        </p:sp>
        <p:sp>
          <p:nvSpPr>
            <p:cNvPr id="24" name="p:p-free 文字"/>
            <p:cNvSpPr txBox="1"/>
            <p:nvPr/>
          </p:nvSpPr>
          <p:spPr>
            <a:xfrm>
              <a:off x="939165" y="2044827"/>
              <a:ext cx="56007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 b="0" i="0" dirty="0">
                  <a:solidFill>
                    <a:srgbClr val="4E4E4E"/>
                  </a:solidFill>
                  <a:latin typeface="Helvetica Neue"/>
                  <a:ea typeface="Microsoft YaHei"/>
                </a:rPr>
                <a:t>no evidence</a:t>
              </a:r>
            </a:p>
          </p:txBody>
        </p:sp>
      </p:grpSp>
      <p:grpSp>
        <p:nvGrpSpPr>
          <p:cNvPr id="71" name="p:p-cc"/>
          <p:cNvGrpSpPr/>
          <p:nvPr/>
        </p:nvGrpSpPr>
        <p:grpSpPr>
          <a:xfrm>
            <a:off x="3319822" y="239775"/>
            <a:ext cx="2746883" cy="1905000"/>
            <a:chOff x="3501517" y="330200"/>
            <a:chExt cx="2746883" cy="1905000"/>
          </a:xfrm>
        </p:grpSpPr>
        <p:cxnSp>
          <p:nvCxnSpPr>
            <p:cNvPr id="25" name="p:p-cc 线"/>
            <p:cNvCxnSpPr/>
            <p:nvPr/>
          </p:nvCxnSpPr>
          <p:spPr>
            <a:xfrm>
              <a:off x="4978400" y="1460500"/>
              <a:ext cx="254000" cy="0"/>
            </a:xfrm>
            <a:prstGeom prst="line">
              <a:avLst/>
            </a:prstGeom>
            <a:ln w="12700" cap="flat">
              <a:solidFill>
                <a:srgbClr val="C2410C"/>
              </a:solidFill>
              <a:miter/>
              <a:headEnd type="triangle" w="med" len="med"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p:p-cc 线"/>
            <p:cNvSpPr/>
            <p:nvPr/>
          </p:nvSpPr>
          <p:spPr>
            <a:xfrm>
              <a:off x="3657600" y="901700"/>
              <a:ext cx="203200" cy="558800"/>
            </a:xfrm>
            <a:custGeom>
              <a:avLst/>
              <a:gdLst/>
              <a:ahLst/>
              <a:cxnLst/>
              <a:rect l="0" t="0" r="r" b="b"/>
              <a:pathLst>
                <a:path w="16000" h="44000" fill="none">
                  <a:moveTo>
                    <a:pt x="16000" y="44000"/>
                  </a:moveTo>
                  <a:lnTo>
                    <a:pt x="0" y="44000"/>
                  </a:lnTo>
                  <a:lnTo>
                    <a:pt x="0" y="0"/>
                  </a:lnTo>
                  <a:lnTo>
                    <a:pt x="16000" y="0"/>
                  </a:lnTo>
                </a:path>
              </a:pathLst>
            </a:custGeom>
            <a:noFill/>
            <a:ln w="9144" cap="flat">
              <a:solidFill>
                <a:srgbClr val="C2410C"/>
              </a:solidFill>
              <a:custDash>
                <a:ds d="347222" sp="263888"/>
              </a:custDash>
              <a:miter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p:p-cc 文字"/>
            <p:cNvSpPr txBox="1"/>
            <p:nvPr/>
          </p:nvSpPr>
          <p:spPr>
            <a:xfrm rot="16200000">
              <a:off x="3403727" y="1097280"/>
              <a:ext cx="36322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b="0" i="0">
                  <a:solidFill>
                    <a:srgbClr val="C2410C"/>
                  </a:solidFill>
                  <a:latin typeface="Helvetica Neue"/>
                  <a:ea typeface="Microsoft YaHei"/>
                </a:rPr>
                <a:t>iterate</a:t>
              </a:r>
            </a:p>
          </p:txBody>
        </p:sp>
        <p:cxnSp>
          <p:nvCxnSpPr>
            <p:cNvPr id="29" name="p:p-cc 线"/>
            <p:cNvCxnSpPr/>
            <p:nvPr/>
          </p:nvCxnSpPr>
          <p:spPr>
            <a:xfrm>
              <a:off x="4419600" y="1676400"/>
              <a:ext cx="0" cy="228600"/>
            </a:xfrm>
            <a:prstGeom prst="line">
              <a:avLst/>
            </a:prstGeom>
            <a:ln w="12700" cap="flat">
              <a:solidFill>
                <a:srgbClr val="C2410C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p:p-cc 线"/>
            <p:cNvCxnSpPr/>
            <p:nvPr/>
          </p:nvCxnSpPr>
          <p:spPr>
            <a:xfrm>
              <a:off x="4419600" y="1016000"/>
              <a:ext cx="0" cy="228600"/>
            </a:xfrm>
            <a:prstGeom prst="line">
              <a:avLst/>
            </a:prstGeom>
            <a:ln w="12700" cap="flat">
              <a:solidFill>
                <a:srgbClr val="C2410C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p:p-cc 线"/>
            <p:cNvCxnSpPr/>
            <p:nvPr/>
          </p:nvCxnSpPr>
          <p:spPr>
            <a:xfrm>
              <a:off x="4419600" y="558800"/>
              <a:ext cx="0" cy="228600"/>
            </a:xfrm>
            <a:prstGeom prst="line">
              <a:avLst/>
            </a:prstGeom>
            <a:ln w="12700" cap="flat">
              <a:solidFill>
                <a:srgbClr val="C2410C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p:p-cc 框"/>
            <p:cNvSpPr/>
            <p:nvPr/>
          </p:nvSpPr>
          <p:spPr>
            <a:xfrm>
              <a:off x="4114800" y="330200"/>
              <a:ext cx="609600" cy="2286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3" name="p:p-cc 文字"/>
            <p:cNvSpPr txBox="1"/>
            <p:nvPr/>
          </p:nvSpPr>
          <p:spPr>
            <a:xfrm>
              <a:off x="4234180" y="346011"/>
              <a:ext cx="37084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 b="0" i="0" dirty="0">
                  <a:solidFill>
                    <a:srgbClr val="262626"/>
                  </a:solidFill>
                  <a:latin typeface="Helvetica Neue"/>
                  <a:ea typeface="Microsoft YaHei"/>
                </a:rPr>
                <a:t>Task</a:t>
              </a:r>
            </a:p>
          </p:txBody>
        </p:sp>
        <p:sp>
          <p:nvSpPr>
            <p:cNvPr id="34" name="p:p-cc 框"/>
            <p:cNvSpPr/>
            <p:nvPr/>
          </p:nvSpPr>
          <p:spPr>
            <a:xfrm>
              <a:off x="3860800" y="787400"/>
              <a:ext cx="1117600" cy="228600"/>
            </a:xfrm>
            <a:prstGeom prst="roundRect">
              <a:avLst>
                <a:gd name="adj" fmla="val 8333"/>
              </a:avLst>
            </a:prstGeom>
            <a:solidFill>
              <a:srgbClr val="E7E7E7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5" name="p:p-cc 文字"/>
            <p:cNvSpPr txBox="1"/>
            <p:nvPr/>
          </p:nvSpPr>
          <p:spPr>
            <a:xfrm>
              <a:off x="4244340" y="803211"/>
              <a:ext cx="35052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LLM</a:t>
              </a:r>
            </a:p>
          </p:txBody>
        </p:sp>
        <p:sp>
          <p:nvSpPr>
            <p:cNvPr id="36" name="p:p-cc 框"/>
            <p:cNvSpPr/>
            <p:nvPr/>
          </p:nvSpPr>
          <p:spPr>
            <a:xfrm>
              <a:off x="3860800" y="1244600"/>
              <a:ext cx="1117600" cy="431800"/>
            </a:xfrm>
            <a:prstGeom prst="roundRect">
              <a:avLst>
                <a:gd name="adj" fmla="val 4411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7" name="p:p-cc 线"/>
            <p:cNvSpPr/>
            <p:nvPr/>
          </p:nvSpPr>
          <p:spPr>
            <a:xfrm>
              <a:off x="4191000" y="1460500"/>
              <a:ext cx="482600" cy="127000"/>
            </a:xfrm>
            <a:custGeom>
              <a:avLst/>
              <a:gdLst/>
              <a:ahLst/>
              <a:cxnLst/>
              <a:rect l="0" t="0" r="r" b="b"/>
              <a:pathLst>
                <a:path w="38000" h="10000" fill="none">
                  <a:moveTo>
                    <a:pt x="0" y="5000"/>
                  </a:moveTo>
                  <a:lnTo>
                    <a:pt x="11000" y="0"/>
                  </a:lnTo>
                  <a:moveTo>
                    <a:pt x="0" y="5000"/>
                  </a:moveTo>
                  <a:lnTo>
                    <a:pt x="11000" y="10000"/>
                  </a:lnTo>
                  <a:moveTo>
                    <a:pt x="16000" y="0"/>
                  </a:moveTo>
                  <a:lnTo>
                    <a:pt x="27000" y="5000"/>
                  </a:lnTo>
                  <a:moveTo>
                    <a:pt x="16000" y="10000"/>
                  </a:moveTo>
                  <a:lnTo>
                    <a:pt x="27000" y="5000"/>
                  </a:lnTo>
                  <a:moveTo>
                    <a:pt x="32000" y="5000"/>
                  </a:moveTo>
                  <a:lnTo>
                    <a:pt x="38000" y="5000"/>
                  </a:lnTo>
                </a:path>
              </a:pathLst>
            </a:custGeom>
            <a:noFill/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p:p-cc 框"/>
            <p:cNvSpPr/>
            <p:nvPr/>
          </p:nvSpPr>
          <p:spPr>
            <a:xfrm>
              <a:off x="4127500" y="1492250"/>
              <a:ext cx="63500" cy="63500"/>
            </a:xfrm>
            <a:prstGeom prst="rect">
              <a:avLst/>
            </a:prstGeom>
            <a:solidFill>
              <a:srgbClr val="C2410C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9" name="p:p-cc 框"/>
            <p:cNvSpPr/>
            <p:nvPr/>
          </p:nvSpPr>
          <p:spPr>
            <a:xfrm>
              <a:off x="4330700" y="1428750"/>
              <a:ext cx="63500" cy="63500"/>
            </a:xfrm>
            <a:prstGeom prst="rect">
              <a:avLst/>
            </a:prstGeom>
            <a:solidFill>
              <a:srgbClr val="C2410C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0" name="p:p-cc 框"/>
            <p:cNvSpPr/>
            <p:nvPr/>
          </p:nvSpPr>
          <p:spPr>
            <a:xfrm>
              <a:off x="4330700" y="1555750"/>
              <a:ext cx="63500" cy="63500"/>
            </a:xfrm>
            <a:prstGeom prst="rect">
              <a:avLst/>
            </a:prstGeom>
            <a:solidFill>
              <a:srgbClr val="C2410C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1" name="p:p-cc 框"/>
            <p:cNvSpPr/>
            <p:nvPr/>
          </p:nvSpPr>
          <p:spPr>
            <a:xfrm>
              <a:off x="4533900" y="1492250"/>
              <a:ext cx="63500" cy="63500"/>
            </a:xfrm>
            <a:prstGeom prst="rect">
              <a:avLst/>
            </a:prstGeom>
            <a:solidFill>
              <a:srgbClr val="C2410C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2" name="p:p-cc 框"/>
            <p:cNvSpPr/>
            <p:nvPr/>
          </p:nvSpPr>
          <p:spPr>
            <a:xfrm>
              <a:off x="4673600" y="1492250"/>
              <a:ext cx="63500" cy="63500"/>
            </a:xfrm>
            <a:prstGeom prst="rect">
              <a:avLst/>
            </a:prstGeom>
            <a:solidFill>
              <a:srgbClr val="C2410C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3" name="p:p-cc 文字"/>
            <p:cNvSpPr txBox="1"/>
            <p:nvPr/>
          </p:nvSpPr>
          <p:spPr>
            <a:xfrm>
              <a:off x="4066540" y="1241361"/>
              <a:ext cx="70612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DSL program</a:t>
              </a:r>
            </a:p>
          </p:txBody>
        </p:sp>
        <p:sp>
          <p:nvSpPr>
            <p:cNvPr id="44" name="p:p-cc 框"/>
            <p:cNvSpPr/>
            <p:nvPr/>
          </p:nvSpPr>
          <p:spPr>
            <a:xfrm>
              <a:off x="3860800" y="1905000"/>
              <a:ext cx="1117600" cy="330200"/>
            </a:xfrm>
            <a:prstGeom prst="roundRect">
              <a:avLst>
                <a:gd name="adj" fmla="val 5769"/>
              </a:avLst>
            </a:prstGeom>
            <a:solidFill>
              <a:srgbClr val="C2410C">
                <a:alpha val="70000"/>
              </a:srgbClr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dirty="0"/>
            </a:p>
          </p:txBody>
        </p:sp>
        <p:sp>
          <p:nvSpPr>
            <p:cNvPr id="45" name="p:p-cc 文字"/>
            <p:cNvSpPr txBox="1"/>
            <p:nvPr/>
          </p:nvSpPr>
          <p:spPr>
            <a:xfrm>
              <a:off x="4182110" y="1924621"/>
              <a:ext cx="47498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800" b="0" i="0">
                  <a:solidFill>
                    <a:srgbClr val="FFFFFF"/>
                  </a:solidFill>
                  <a:latin typeface="Helvetica Neue"/>
                  <a:ea typeface="Microsoft YaHei"/>
                </a:rPr>
                <a:t>Answer</a:t>
              </a:r>
            </a:p>
          </p:txBody>
        </p:sp>
        <p:sp>
          <p:nvSpPr>
            <p:cNvPr id="46" name="p:p-cc 文字"/>
            <p:cNvSpPr txBox="1"/>
            <p:nvPr/>
          </p:nvSpPr>
          <p:spPr>
            <a:xfrm>
              <a:off x="3931285" y="2044827"/>
              <a:ext cx="97663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 b="0" i="0" dirty="0">
                  <a:solidFill>
                    <a:srgbClr val="FFFFFF"/>
                  </a:solidFill>
                  <a:latin typeface="Helvetica Neue"/>
                  <a:ea typeface="Microsoft YaHei"/>
                </a:rPr>
                <a:t>with evidence</a:t>
              </a:r>
            </a:p>
          </p:txBody>
        </p:sp>
        <p:sp>
          <p:nvSpPr>
            <p:cNvPr id="47" name="p:p-cc 框"/>
            <p:cNvSpPr/>
            <p:nvPr/>
          </p:nvSpPr>
          <p:spPr>
            <a:xfrm>
              <a:off x="5232400" y="330200"/>
              <a:ext cx="779952" cy="228600"/>
            </a:xfrm>
            <a:prstGeom prst="roundRect">
              <a:avLst>
                <a:gd name="adj" fmla="val 8333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8" name="p:p-cc 文字"/>
            <p:cNvSpPr txBox="1"/>
            <p:nvPr/>
          </p:nvSpPr>
          <p:spPr>
            <a:xfrm>
              <a:off x="5344795" y="346011"/>
              <a:ext cx="566704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 b="0" i="0" dirty="0">
                  <a:solidFill>
                    <a:srgbClr val="262626"/>
                  </a:solidFill>
                  <a:latin typeface="Helvetica Neue"/>
                  <a:ea typeface="Microsoft YaHei"/>
                </a:rPr>
                <a:t>DSL / Playbook</a:t>
              </a:r>
            </a:p>
          </p:txBody>
        </p:sp>
        <p:sp>
          <p:nvSpPr>
            <p:cNvPr id="49" name="p:p-cc 框"/>
            <p:cNvSpPr/>
            <p:nvPr/>
          </p:nvSpPr>
          <p:spPr>
            <a:xfrm>
              <a:off x="5232400" y="1346200"/>
              <a:ext cx="1016000" cy="228600"/>
            </a:xfrm>
            <a:prstGeom prst="roundRect">
              <a:avLst>
                <a:gd name="adj" fmla="val 8333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0" name="p:p-cc 文字"/>
            <p:cNvSpPr txBox="1"/>
            <p:nvPr/>
          </p:nvSpPr>
          <p:spPr>
            <a:xfrm>
              <a:off x="5258435" y="1362011"/>
              <a:ext cx="96393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DSL runtime engine</a:t>
              </a:r>
            </a:p>
          </p:txBody>
        </p:sp>
      </p:grpSp>
      <p:grpSp>
        <p:nvGrpSpPr>
          <p:cNvPr id="72" name="a:v-free-expressive ✓ Expressive"/>
          <p:cNvGrpSpPr/>
          <p:nvPr/>
        </p:nvGrpSpPr>
        <p:grpSpPr>
          <a:xfrm>
            <a:off x="2430016" y="1800161"/>
            <a:ext cx="727710" cy="195580"/>
            <a:chOff x="1981200" y="1800161"/>
            <a:chExt cx="727710" cy="195580"/>
          </a:xfrm>
        </p:grpSpPr>
        <p:sp>
          <p:nvSpPr>
            <p:cNvPr id="51" name="a:v-free-expressive 线"/>
            <p:cNvSpPr/>
            <p:nvPr/>
          </p:nvSpPr>
          <p:spPr>
            <a:xfrm>
              <a:off x="1981200" y="1865630"/>
              <a:ext cx="69850" cy="58419"/>
            </a:xfrm>
            <a:custGeom>
              <a:avLst/>
              <a:gdLst/>
              <a:ahLst/>
              <a:cxnLst/>
              <a:rect l="0" t="0" r="r" b="b"/>
              <a:pathLst>
                <a:path w="5500" h="4599" fill="none">
                  <a:moveTo>
                    <a:pt x="0" y="2500"/>
                  </a:moveTo>
                  <a:lnTo>
                    <a:pt x="1900" y="4600"/>
                  </a:lnTo>
                  <a:lnTo>
                    <a:pt x="5500" y="0"/>
                  </a:lnTo>
                </a:path>
              </a:pathLst>
            </a:custGeom>
            <a:noFill/>
            <a:ln w="12700" cap="flat">
              <a:solidFill>
                <a:srgbClr val="86868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a:v-free-expressive 文字"/>
            <p:cNvSpPr txBox="1"/>
            <p:nvPr/>
          </p:nvSpPr>
          <p:spPr>
            <a:xfrm>
              <a:off x="2095500" y="1800161"/>
              <a:ext cx="61341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Expressive</a:t>
              </a:r>
            </a:p>
          </p:txBody>
        </p:sp>
      </p:grpSp>
      <p:grpSp>
        <p:nvGrpSpPr>
          <p:cNvPr id="73" name="a:v-free-explainable ✗ Explainable"/>
          <p:cNvGrpSpPr/>
          <p:nvPr/>
        </p:nvGrpSpPr>
        <p:grpSpPr>
          <a:xfrm>
            <a:off x="2435096" y="1922081"/>
            <a:ext cx="749300" cy="195580"/>
            <a:chOff x="1986280" y="1922081"/>
            <a:chExt cx="749300" cy="195580"/>
          </a:xfrm>
        </p:grpSpPr>
        <p:sp>
          <p:nvSpPr>
            <p:cNvPr id="53" name="a:v-free-explainable 线"/>
            <p:cNvSpPr/>
            <p:nvPr/>
          </p:nvSpPr>
          <p:spPr>
            <a:xfrm>
              <a:off x="1986280" y="1993900"/>
              <a:ext cx="50800" cy="50800"/>
            </a:xfrm>
            <a:custGeom>
              <a:avLst/>
              <a:gdLst/>
              <a:ahLst/>
              <a:cxnLst/>
              <a:rect l="0" t="0" r="r" b="b"/>
              <a:pathLst>
                <a:path w="4000" h="4000" fill="none">
                  <a:moveTo>
                    <a:pt x="0" y="0"/>
                  </a:moveTo>
                  <a:lnTo>
                    <a:pt x="4000" y="4000"/>
                  </a:lnTo>
                  <a:moveTo>
                    <a:pt x="4000" y="0"/>
                  </a:moveTo>
                  <a:lnTo>
                    <a:pt x="0" y="4000"/>
                  </a:lnTo>
                </a:path>
              </a:pathLst>
            </a:custGeom>
            <a:noFill/>
            <a:ln w="12700" cap="flat">
              <a:solidFill>
                <a:srgbClr val="C0000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a:v-free-explainable 文字"/>
            <p:cNvSpPr txBox="1"/>
            <p:nvPr/>
          </p:nvSpPr>
          <p:spPr>
            <a:xfrm>
              <a:off x="2095500" y="1922081"/>
              <a:ext cx="64008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0" i="0">
                  <a:solidFill>
                    <a:srgbClr val="4E4E4E"/>
                  </a:solidFill>
                  <a:latin typeface="Helvetica Neue"/>
                  <a:ea typeface="Microsoft YaHei"/>
                </a:rPr>
                <a:t>Explainable</a:t>
              </a:r>
            </a:p>
          </p:txBody>
        </p:sp>
      </p:grpSp>
      <p:grpSp>
        <p:nvGrpSpPr>
          <p:cNvPr id="74" name="a:v-free-effective ✗ Effective"/>
          <p:cNvGrpSpPr/>
          <p:nvPr/>
        </p:nvGrpSpPr>
        <p:grpSpPr>
          <a:xfrm>
            <a:off x="2435096" y="2044001"/>
            <a:ext cx="627379" cy="195580"/>
            <a:chOff x="1986280" y="2044001"/>
            <a:chExt cx="627379" cy="195580"/>
          </a:xfrm>
        </p:grpSpPr>
        <p:sp>
          <p:nvSpPr>
            <p:cNvPr id="55" name="a:v-free-effective 线"/>
            <p:cNvSpPr/>
            <p:nvPr/>
          </p:nvSpPr>
          <p:spPr>
            <a:xfrm>
              <a:off x="1986280" y="2115820"/>
              <a:ext cx="50800" cy="50800"/>
            </a:xfrm>
            <a:custGeom>
              <a:avLst/>
              <a:gdLst/>
              <a:ahLst/>
              <a:cxnLst/>
              <a:rect l="0" t="0" r="r" b="b"/>
              <a:pathLst>
                <a:path w="4000" h="4000" fill="none">
                  <a:moveTo>
                    <a:pt x="0" y="0"/>
                  </a:moveTo>
                  <a:lnTo>
                    <a:pt x="4000" y="4000"/>
                  </a:lnTo>
                  <a:moveTo>
                    <a:pt x="4000" y="0"/>
                  </a:moveTo>
                  <a:lnTo>
                    <a:pt x="0" y="4000"/>
                  </a:lnTo>
                </a:path>
              </a:pathLst>
            </a:custGeom>
            <a:noFill/>
            <a:ln w="12700" cap="flat">
              <a:solidFill>
                <a:srgbClr val="C0000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a:v-free-effective 文字"/>
            <p:cNvSpPr txBox="1"/>
            <p:nvPr/>
          </p:nvSpPr>
          <p:spPr>
            <a:xfrm>
              <a:off x="2095500" y="2044001"/>
              <a:ext cx="518159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0" i="0">
                  <a:solidFill>
                    <a:srgbClr val="4E4E4E"/>
                  </a:solidFill>
                  <a:latin typeface="Helvetica Neue"/>
                  <a:ea typeface="Microsoft YaHei"/>
                </a:rPr>
                <a:t>Effective</a:t>
              </a:r>
            </a:p>
          </p:txBody>
        </p:sp>
      </p:grpSp>
      <p:grpSp>
        <p:nvGrpSpPr>
          <p:cNvPr id="75" name="a:v-free-efficient ✗ Efficient"/>
          <p:cNvGrpSpPr/>
          <p:nvPr/>
        </p:nvGrpSpPr>
        <p:grpSpPr>
          <a:xfrm>
            <a:off x="2435096" y="2165921"/>
            <a:ext cx="603250" cy="195580"/>
            <a:chOff x="1986280" y="2165921"/>
            <a:chExt cx="603250" cy="195580"/>
          </a:xfrm>
        </p:grpSpPr>
        <p:sp>
          <p:nvSpPr>
            <p:cNvPr id="57" name="a:v-free-efficient 线"/>
            <p:cNvSpPr/>
            <p:nvPr/>
          </p:nvSpPr>
          <p:spPr>
            <a:xfrm>
              <a:off x="1986280" y="2237740"/>
              <a:ext cx="50800" cy="50800"/>
            </a:xfrm>
            <a:custGeom>
              <a:avLst/>
              <a:gdLst/>
              <a:ahLst/>
              <a:cxnLst/>
              <a:rect l="0" t="0" r="r" b="b"/>
              <a:pathLst>
                <a:path w="4000" h="4000" fill="none">
                  <a:moveTo>
                    <a:pt x="0" y="0"/>
                  </a:moveTo>
                  <a:lnTo>
                    <a:pt x="4000" y="4000"/>
                  </a:lnTo>
                  <a:moveTo>
                    <a:pt x="4000" y="0"/>
                  </a:moveTo>
                  <a:lnTo>
                    <a:pt x="0" y="4000"/>
                  </a:lnTo>
                </a:path>
              </a:pathLst>
            </a:custGeom>
            <a:noFill/>
            <a:ln w="12700" cap="flat">
              <a:solidFill>
                <a:srgbClr val="C00000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a:v-free-efficient 文字"/>
            <p:cNvSpPr txBox="1"/>
            <p:nvPr/>
          </p:nvSpPr>
          <p:spPr>
            <a:xfrm>
              <a:off x="2095500" y="2165921"/>
              <a:ext cx="49403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0" i="0">
                  <a:solidFill>
                    <a:srgbClr val="4E4E4E"/>
                  </a:solidFill>
                  <a:latin typeface="Helvetica Neue"/>
                  <a:ea typeface="Microsoft YaHei"/>
                </a:rPr>
                <a:t>Efficient</a:t>
              </a:r>
            </a:p>
          </p:txBody>
        </p:sp>
      </p:grpSp>
      <p:grpSp>
        <p:nvGrpSpPr>
          <p:cNvPr id="76" name="a:v-cc-expressive ✓ Expressive"/>
          <p:cNvGrpSpPr/>
          <p:nvPr/>
        </p:nvGrpSpPr>
        <p:grpSpPr>
          <a:xfrm>
            <a:off x="4919469" y="1765915"/>
            <a:ext cx="727710" cy="195580"/>
            <a:chOff x="5232400" y="1800161"/>
            <a:chExt cx="727710" cy="195580"/>
          </a:xfrm>
        </p:grpSpPr>
        <p:sp>
          <p:nvSpPr>
            <p:cNvPr id="59" name="a:v-cc-expressive 线"/>
            <p:cNvSpPr/>
            <p:nvPr/>
          </p:nvSpPr>
          <p:spPr>
            <a:xfrm>
              <a:off x="5232400" y="1865630"/>
              <a:ext cx="69850" cy="58419"/>
            </a:xfrm>
            <a:custGeom>
              <a:avLst/>
              <a:gdLst/>
              <a:ahLst/>
              <a:cxnLst/>
              <a:rect l="0" t="0" r="r" b="b"/>
              <a:pathLst>
                <a:path w="5500" h="4599" fill="none">
                  <a:moveTo>
                    <a:pt x="0" y="2500"/>
                  </a:moveTo>
                  <a:lnTo>
                    <a:pt x="1900" y="4600"/>
                  </a:lnTo>
                  <a:lnTo>
                    <a:pt x="5500" y="0"/>
                  </a:lnTo>
                </a:path>
              </a:pathLst>
            </a:custGeom>
            <a:noFill/>
            <a:ln w="1270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a:v-cc-expressive 文字"/>
            <p:cNvSpPr txBox="1"/>
            <p:nvPr/>
          </p:nvSpPr>
          <p:spPr>
            <a:xfrm>
              <a:off x="5346700" y="1800161"/>
              <a:ext cx="61341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Expressive</a:t>
              </a:r>
            </a:p>
          </p:txBody>
        </p:sp>
      </p:grpSp>
      <p:grpSp>
        <p:nvGrpSpPr>
          <p:cNvPr id="77" name="a:v-cc-explainable ✓ Explainable"/>
          <p:cNvGrpSpPr/>
          <p:nvPr/>
        </p:nvGrpSpPr>
        <p:grpSpPr>
          <a:xfrm>
            <a:off x="4919469" y="1887835"/>
            <a:ext cx="754380" cy="195580"/>
            <a:chOff x="5232400" y="1922081"/>
            <a:chExt cx="754380" cy="195580"/>
          </a:xfrm>
        </p:grpSpPr>
        <p:sp>
          <p:nvSpPr>
            <p:cNvPr id="61" name="a:v-cc-explainable 线"/>
            <p:cNvSpPr/>
            <p:nvPr/>
          </p:nvSpPr>
          <p:spPr>
            <a:xfrm>
              <a:off x="5232400" y="1987550"/>
              <a:ext cx="69850" cy="58419"/>
            </a:xfrm>
            <a:custGeom>
              <a:avLst/>
              <a:gdLst/>
              <a:ahLst/>
              <a:cxnLst/>
              <a:rect l="0" t="0" r="r" b="b"/>
              <a:pathLst>
                <a:path w="5500" h="4599" fill="none">
                  <a:moveTo>
                    <a:pt x="0" y="2500"/>
                  </a:moveTo>
                  <a:lnTo>
                    <a:pt x="1900" y="4600"/>
                  </a:lnTo>
                  <a:lnTo>
                    <a:pt x="5500" y="0"/>
                  </a:lnTo>
                </a:path>
              </a:pathLst>
            </a:custGeom>
            <a:noFill/>
            <a:ln w="1270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a:v-cc-explainable 文字"/>
            <p:cNvSpPr txBox="1"/>
            <p:nvPr/>
          </p:nvSpPr>
          <p:spPr>
            <a:xfrm>
              <a:off x="5346700" y="1922081"/>
              <a:ext cx="64008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Explainable</a:t>
              </a:r>
            </a:p>
          </p:txBody>
        </p:sp>
      </p:grpSp>
      <p:grpSp>
        <p:nvGrpSpPr>
          <p:cNvPr id="78" name="a:v-cc-effective ✓ Effective"/>
          <p:cNvGrpSpPr/>
          <p:nvPr/>
        </p:nvGrpSpPr>
        <p:grpSpPr>
          <a:xfrm>
            <a:off x="4919469" y="2009755"/>
            <a:ext cx="632459" cy="195580"/>
            <a:chOff x="5232400" y="2044001"/>
            <a:chExt cx="632459" cy="195580"/>
          </a:xfrm>
        </p:grpSpPr>
        <p:sp>
          <p:nvSpPr>
            <p:cNvPr id="63" name="a:v-cc-effective 线"/>
            <p:cNvSpPr/>
            <p:nvPr/>
          </p:nvSpPr>
          <p:spPr>
            <a:xfrm>
              <a:off x="5232400" y="2109470"/>
              <a:ext cx="69850" cy="58419"/>
            </a:xfrm>
            <a:custGeom>
              <a:avLst/>
              <a:gdLst/>
              <a:ahLst/>
              <a:cxnLst/>
              <a:rect l="0" t="0" r="r" b="b"/>
              <a:pathLst>
                <a:path w="5500" h="4599" fill="none">
                  <a:moveTo>
                    <a:pt x="0" y="2500"/>
                  </a:moveTo>
                  <a:lnTo>
                    <a:pt x="1900" y="4600"/>
                  </a:lnTo>
                  <a:lnTo>
                    <a:pt x="5500" y="0"/>
                  </a:lnTo>
                </a:path>
              </a:pathLst>
            </a:custGeom>
            <a:noFill/>
            <a:ln w="1270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a:v-cc-effective 文字"/>
            <p:cNvSpPr txBox="1"/>
            <p:nvPr/>
          </p:nvSpPr>
          <p:spPr>
            <a:xfrm>
              <a:off x="5346700" y="2044001"/>
              <a:ext cx="518159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Effective</a:t>
              </a:r>
            </a:p>
          </p:txBody>
        </p:sp>
      </p:grpSp>
      <p:grpSp>
        <p:nvGrpSpPr>
          <p:cNvPr id="79" name="a:v-cc-efficient ✓ Efficient"/>
          <p:cNvGrpSpPr/>
          <p:nvPr/>
        </p:nvGrpSpPr>
        <p:grpSpPr>
          <a:xfrm>
            <a:off x="4919469" y="2131675"/>
            <a:ext cx="608330" cy="195580"/>
            <a:chOff x="5232400" y="2165921"/>
            <a:chExt cx="608330" cy="195580"/>
          </a:xfrm>
        </p:grpSpPr>
        <p:sp>
          <p:nvSpPr>
            <p:cNvPr id="65" name="a:v-cc-efficient 线"/>
            <p:cNvSpPr/>
            <p:nvPr/>
          </p:nvSpPr>
          <p:spPr>
            <a:xfrm>
              <a:off x="5232400" y="2231390"/>
              <a:ext cx="69850" cy="58419"/>
            </a:xfrm>
            <a:custGeom>
              <a:avLst/>
              <a:gdLst/>
              <a:ahLst/>
              <a:cxnLst/>
              <a:rect l="0" t="0" r="r" b="b"/>
              <a:pathLst>
                <a:path w="5500" h="4599" fill="none">
                  <a:moveTo>
                    <a:pt x="0" y="2500"/>
                  </a:moveTo>
                  <a:lnTo>
                    <a:pt x="1900" y="4600"/>
                  </a:lnTo>
                  <a:lnTo>
                    <a:pt x="5500" y="0"/>
                  </a:lnTo>
                </a:path>
              </a:pathLst>
            </a:custGeom>
            <a:noFill/>
            <a:ln w="1270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a:v-cc-efficient 文字"/>
            <p:cNvSpPr txBox="1"/>
            <p:nvPr/>
          </p:nvSpPr>
          <p:spPr>
            <a:xfrm>
              <a:off x="5346700" y="2165921"/>
              <a:ext cx="49403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0" i="0">
                  <a:solidFill>
                    <a:srgbClr val="262626"/>
                  </a:solidFill>
                  <a:latin typeface="Helvetica Neue"/>
                  <a:ea typeface="Microsoft YaHei"/>
                </a:rPr>
                <a:t>Efficient</a:t>
              </a:r>
            </a:p>
          </p:txBody>
        </p:sp>
      </p:grpSp>
      <p:sp>
        <p:nvSpPr>
          <p:cNvPr id="67" name="a:title-free 文字"/>
          <p:cNvSpPr txBox="1"/>
          <p:nvPr/>
        </p:nvSpPr>
        <p:spPr>
          <a:xfrm>
            <a:off x="1347450" y="16255"/>
            <a:ext cx="914400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i="0" dirty="0">
                <a:solidFill>
                  <a:srgbClr val="4E4E4E"/>
                </a:solidFill>
                <a:latin typeface="Helvetica Neue"/>
                <a:ea typeface="Microsoft YaHei"/>
              </a:rPr>
              <a:t>Free-form LLM</a:t>
            </a:r>
          </a:p>
        </p:txBody>
      </p:sp>
      <p:sp>
        <p:nvSpPr>
          <p:cNvPr id="68" name="a:title-cc 文字"/>
          <p:cNvSpPr txBox="1"/>
          <p:nvPr/>
        </p:nvSpPr>
        <p:spPr>
          <a:xfrm>
            <a:off x="3621492" y="16255"/>
            <a:ext cx="1283970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00" b="1" i="0">
                <a:solidFill>
                  <a:srgbClr val="C2410C"/>
                </a:solidFill>
                <a:latin typeface="Helvetica Neue"/>
                <a:ea typeface="Microsoft YaHei"/>
              </a:rPr>
              <a:t>Constrained Creativity</a:t>
            </a:r>
          </a:p>
        </p:txBody>
      </p:sp>
      <p:cxnSp>
        <p:nvCxnSpPr>
          <p:cNvPr id="69" name="a:divider 线"/>
          <p:cNvCxnSpPr>
            <a:cxnSpLocks/>
          </p:cNvCxnSpPr>
          <p:nvPr/>
        </p:nvCxnSpPr>
        <p:spPr>
          <a:xfrm>
            <a:off x="3161371" y="76200"/>
            <a:ext cx="0" cy="2336800"/>
          </a:xfrm>
          <a:prstGeom prst="line">
            <a:avLst/>
          </a:prstGeom>
          <a:ln w="7620" cap="flat">
            <a:solidFill>
              <a:srgbClr val="CCCCCC"/>
            </a:solidFill>
            <a:miter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p:p-cc 线">
            <a:extLst>
              <a:ext uri="{FF2B5EF4-FFF2-40B4-BE49-F238E27FC236}">
                <a16:creationId xmlns:a16="http://schemas.microsoft.com/office/drawing/2014/main" id="{F2ED13F4-CF87-C685-EF25-AF787C52AE25}"/>
              </a:ext>
            </a:extLst>
          </p:cNvPr>
          <p:cNvCxnSpPr>
            <a:cxnSpLocks/>
            <a:stCxn id="47" idx="2"/>
            <a:endCxn id="34" idx="3"/>
          </p:cNvCxnSpPr>
          <p:nvPr/>
        </p:nvCxnSpPr>
        <p:spPr>
          <a:xfrm flipH="1">
            <a:off x="4796705" y="468375"/>
            <a:ext cx="643976" cy="34290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p:p-cc 线">
            <a:extLst>
              <a:ext uri="{FF2B5EF4-FFF2-40B4-BE49-F238E27FC236}">
                <a16:creationId xmlns:a16="http://schemas.microsoft.com/office/drawing/2014/main" id="{6979A810-FE53-4C0E-6EF9-5A6854F90175}"/>
              </a:ext>
            </a:extLst>
          </p:cNvPr>
          <p:cNvCxnSpPr>
            <a:cxnSpLocks/>
            <a:stCxn id="32" idx="3"/>
            <a:endCxn id="47" idx="1"/>
          </p:cNvCxnSpPr>
          <p:nvPr/>
        </p:nvCxnSpPr>
        <p:spPr>
          <a:xfrm>
            <a:off x="4542705" y="354075"/>
            <a:ext cx="508000" cy="0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e:e-task-dsl 线"/>
          <p:cNvCxnSpPr/>
          <p:nvPr/>
        </p:nvCxnSpPr>
        <p:spPr>
          <a:xfrm>
            <a:off x="2428639" y="500014"/>
            <a:ext cx="0" cy="97829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:e-dsl-llm 线"/>
          <p:cNvCxnSpPr/>
          <p:nvPr/>
        </p:nvCxnSpPr>
        <p:spPr>
          <a:xfrm>
            <a:off x="2428639" y="836980"/>
            <a:ext cx="0" cy="97829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:e-llm-program 线"/>
          <p:cNvCxnSpPr/>
          <p:nvPr/>
        </p:nvCxnSpPr>
        <p:spPr>
          <a:xfrm>
            <a:off x="2428639" y="1173946"/>
            <a:ext cx="0" cy="97829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:e-program-runtime 线"/>
          <p:cNvCxnSpPr/>
          <p:nvPr/>
        </p:nvCxnSpPr>
        <p:spPr>
          <a:xfrm>
            <a:off x="2428639" y="1619610"/>
            <a:ext cx="0" cy="97829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:e-runtime-answer 线"/>
          <p:cNvCxnSpPr/>
          <p:nvPr/>
        </p:nvCxnSpPr>
        <p:spPr>
          <a:xfrm>
            <a:off x="2428639" y="1956576"/>
            <a:ext cx="0" cy="97829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3" name="e:e-iter runtime→llm"/>
          <p:cNvGrpSpPr/>
          <p:nvPr/>
        </p:nvGrpSpPr>
        <p:grpSpPr>
          <a:xfrm>
            <a:off x="1519810" y="1054377"/>
            <a:ext cx="387076" cy="782631"/>
            <a:chOff x="-122047" y="1231900"/>
            <a:chExt cx="452247" cy="914400"/>
          </a:xfrm>
        </p:grpSpPr>
        <p:sp>
          <p:nvSpPr>
            <p:cNvPr id="8" name="e:e-iter 线"/>
            <p:cNvSpPr/>
            <p:nvPr/>
          </p:nvSpPr>
          <p:spPr>
            <a:xfrm>
              <a:off x="165100" y="1231900"/>
              <a:ext cx="165100" cy="914400"/>
            </a:xfrm>
            <a:custGeom>
              <a:avLst/>
              <a:gdLst/>
              <a:ahLst/>
              <a:cxnLst/>
              <a:rect l="0" t="0" r="r" b="b"/>
              <a:pathLst>
                <a:path w="13000" h="72000" fill="none">
                  <a:moveTo>
                    <a:pt x="13000" y="72000"/>
                  </a:moveTo>
                  <a:lnTo>
                    <a:pt x="0" y="72000"/>
                  </a:lnTo>
                  <a:lnTo>
                    <a:pt x="0" y="0"/>
                  </a:lnTo>
                  <a:lnTo>
                    <a:pt x="13000" y="0"/>
                  </a:lnTo>
                </a:path>
              </a:pathLst>
            </a:custGeom>
            <a:noFill/>
            <a:ln w="9144" cap="flat">
              <a:solidFill>
                <a:srgbClr val="C2410C"/>
              </a:solidFill>
              <a:custDash>
                <a:ds d="347222" sp="263888"/>
              </a:custDash>
              <a:miter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9" name="e:e-iter 文字"/>
            <p:cNvSpPr txBox="1"/>
            <p:nvPr/>
          </p:nvSpPr>
          <p:spPr>
            <a:xfrm rot="16200000">
              <a:off x="-122047" y="1605280"/>
              <a:ext cx="429768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>
                  <a:solidFill>
                    <a:srgbClr val="C2410C"/>
                  </a:solidFill>
                  <a:latin typeface="Helvetica Neue"/>
                  <a:ea typeface="Microsoft YaHei"/>
                </a:rPr>
                <a:t>iterate</a:t>
              </a:r>
            </a:p>
          </p:txBody>
        </p:sp>
      </p:grpSp>
      <p:grpSp>
        <p:nvGrpSpPr>
          <p:cNvPr id="84" name="n:task Task"/>
          <p:cNvGrpSpPr/>
          <p:nvPr/>
        </p:nvGrpSpPr>
        <p:grpSpPr>
          <a:xfrm>
            <a:off x="1906886" y="260877"/>
            <a:ext cx="1043507" cy="239137"/>
            <a:chOff x="330200" y="304800"/>
            <a:chExt cx="1219200" cy="279400"/>
          </a:xfrm>
        </p:grpSpPr>
        <p:sp>
          <p:nvSpPr>
            <p:cNvPr id="10" name="n:task 框"/>
            <p:cNvSpPr/>
            <p:nvPr/>
          </p:nvSpPr>
          <p:spPr>
            <a:xfrm>
              <a:off x="330200" y="3048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11" name="n:task 圆"/>
            <p:cNvSpPr/>
            <p:nvPr/>
          </p:nvSpPr>
          <p:spPr>
            <a:xfrm>
              <a:off x="432196" y="396478"/>
              <a:ext cx="104775" cy="104775"/>
            </a:xfrm>
            <a:prstGeom prst="ellipse">
              <a:avLst/>
            </a:pr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12" name="n:task 圆"/>
            <p:cNvSpPr/>
            <p:nvPr/>
          </p:nvSpPr>
          <p:spPr>
            <a:xfrm>
              <a:off x="454898" y="419179"/>
              <a:ext cx="59372" cy="59372"/>
            </a:xfrm>
            <a:prstGeom prst="ellipse">
              <a:avLst/>
            </a:pr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13" name="n:task 线"/>
            <p:cNvSpPr/>
            <p:nvPr/>
          </p:nvSpPr>
          <p:spPr>
            <a:xfrm>
              <a:off x="484584" y="393858"/>
              <a:ext cx="55006" cy="55006"/>
            </a:xfrm>
            <a:custGeom>
              <a:avLst/>
              <a:gdLst/>
              <a:ahLst/>
              <a:cxnLst/>
              <a:rect l="0" t="0" r="r" b="b"/>
              <a:pathLst>
                <a:path w="4331" h="4331" fill="none">
                  <a:moveTo>
                    <a:pt x="0" y="4331"/>
                  </a:moveTo>
                  <a:lnTo>
                    <a:pt x="4194" y="137"/>
                  </a:lnTo>
                  <a:moveTo>
                    <a:pt x="2819" y="0"/>
                  </a:moveTo>
                  <a:lnTo>
                    <a:pt x="4194" y="137"/>
                  </a:lnTo>
                  <a:lnTo>
                    <a:pt x="4331" y="1512"/>
                  </a:ln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14" name="n:task 圆"/>
            <p:cNvSpPr/>
            <p:nvPr/>
          </p:nvSpPr>
          <p:spPr>
            <a:xfrm>
              <a:off x="474979" y="439260"/>
              <a:ext cx="19208" cy="19208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15" name="n:task 文字"/>
            <p:cNvSpPr txBox="1"/>
            <p:nvPr/>
          </p:nvSpPr>
          <p:spPr>
            <a:xfrm>
              <a:off x="622300" y="346011"/>
              <a:ext cx="362712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dirty="0">
                  <a:solidFill>
                    <a:srgbClr val="262626"/>
                  </a:solidFill>
                  <a:latin typeface="Helvetica Neue"/>
                  <a:ea typeface="Microsoft YaHei"/>
                </a:rPr>
                <a:t>Task</a:t>
              </a:r>
            </a:p>
          </p:txBody>
        </p:sp>
      </p:grpSp>
      <p:grpSp>
        <p:nvGrpSpPr>
          <p:cNvPr id="85" name="a:task-ex example: Task"/>
          <p:cNvGrpSpPr/>
          <p:nvPr/>
        </p:nvGrpSpPr>
        <p:grpSpPr>
          <a:xfrm>
            <a:off x="3037352" y="260877"/>
            <a:ext cx="1652220" cy="239137"/>
            <a:chOff x="1651000" y="304800"/>
            <a:chExt cx="1930400" cy="279400"/>
          </a:xfrm>
        </p:grpSpPr>
        <p:sp>
          <p:nvSpPr>
            <p:cNvPr id="16" name="a:task-ex 框"/>
            <p:cNvSpPr/>
            <p:nvPr/>
          </p:nvSpPr>
          <p:spPr>
            <a:xfrm>
              <a:off x="1651000" y="3048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600"/>
            </a:p>
          </p:txBody>
        </p:sp>
        <p:sp>
          <p:nvSpPr>
            <p:cNvPr id="17" name="a:task-ex 文字"/>
            <p:cNvSpPr txBox="1"/>
            <p:nvPr/>
          </p:nvSpPr>
          <p:spPr>
            <a:xfrm>
              <a:off x="1739900" y="359537"/>
              <a:ext cx="1796795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dirty="0">
                  <a:solidFill>
                    <a:srgbClr val="262626"/>
                  </a:solidFill>
                  <a:latin typeface="Helvetica Neue"/>
                  <a:ea typeface="Microsoft YaHei"/>
                </a:rPr>
                <a:t>“Gain access and exfiltrate sensitive data.”</a:t>
              </a:r>
            </a:p>
          </p:txBody>
        </p:sp>
      </p:grpSp>
      <p:grpSp>
        <p:nvGrpSpPr>
          <p:cNvPr id="86" name="n:dsl DSL / Playbook"/>
          <p:cNvGrpSpPr/>
          <p:nvPr/>
        </p:nvGrpSpPr>
        <p:grpSpPr>
          <a:xfrm>
            <a:off x="1906886" y="597843"/>
            <a:ext cx="1043507" cy="239137"/>
            <a:chOff x="330200" y="698500"/>
            <a:chExt cx="1219200" cy="279400"/>
          </a:xfrm>
        </p:grpSpPr>
        <p:sp>
          <p:nvSpPr>
            <p:cNvPr id="18" name="n:dsl 框"/>
            <p:cNvSpPr/>
            <p:nvPr/>
          </p:nvSpPr>
          <p:spPr>
            <a:xfrm>
              <a:off x="330200" y="6985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19" name="n:dsl 框"/>
            <p:cNvSpPr/>
            <p:nvPr/>
          </p:nvSpPr>
          <p:spPr>
            <a:xfrm>
              <a:off x="432196" y="846931"/>
              <a:ext cx="113506" cy="43656"/>
            </a:xfrm>
            <a:prstGeom prst="roundRect">
              <a:avLst>
                <a:gd name="adj" fmla="val 12000"/>
              </a:avLst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20" name="n:dsl 框"/>
            <p:cNvSpPr/>
            <p:nvPr/>
          </p:nvSpPr>
          <p:spPr>
            <a:xfrm>
              <a:off x="449659" y="798909"/>
              <a:ext cx="78581" cy="48021"/>
            </a:xfrm>
            <a:prstGeom prst="roundRect">
              <a:avLst>
                <a:gd name="adj" fmla="val 10909"/>
              </a:avLst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21" name="n:dsl 线"/>
            <p:cNvSpPr/>
            <p:nvPr/>
          </p:nvSpPr>
          <p:spPr>
            <a:xfrm>
              <a:off x="462756" y="787558"/>
              <a:ext cx="52387" cy="11350"/>
            </a:xfrm>
            <a:custGeom>
              <a:avLst/>
              <a:gdLst/>
              <a:ahLst/>
              <a:cxnLst/>
              <a:rect l="0" t="0" r="r" b="b"/>
              <a:pathLst>
                <a:path w="4125" h="893" fill="none">
                  <a:moveTo>
                    <a:pt x="0" y="894"/>
                  </a:moveTo>
                  <a:lnTo>
                    <a:pt x="0" y="0"/>
                  </a:lnTo>
                  <a:lnTo>
                    <a:pt x="1375" y="0"/>
                  </a:lnTo>
                  <a:lnTo>
                    <a:pt x="1375" y="894"/>
                  </a:lnTo>
                  <a:moveTo>
                    <a:pt x="2750" y="894"/>
                  </a:moveTo>
                  <a:lnTo>
                    <a:pt x="2750" y="0"/>
                  </a:lnTo>
                  <a:lnTo>
                    <a:pt x="4125" y="0"/>
                  </a:lnTo>
                  <a:lnTo>
                    <a:pt x="4125" y="894"/>
                  </a:lnTo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22" name="n:dsl 文字"/>
            <p:cNvSpPr txBox="1"/>
            <p:nvPr/>
          </p:nvSpPr>
          <p:spPr>
            <a:xfrm>
              <a:off x="622300" y="739711"/>
              <a:ext cx="778763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dirty="0">
                  <a:solidFill>
                    <a:srgbClr val="262626"/>
                  </a:solidFill>
                  <a:latin typeface="Helvetica Neue"/>
                  <a:ea typeface="Microsoft YaHei"/>
                </a:rPr>
                <a:t>DSL / Playbook</a:t>
              </a:r>
            </a:p>
          </p:txBody>
        </p:sp>
      </p:grpSp>
      <p:grpSp>
        <p:nvGrpSpPr>
          <p:cNvPr id="87" name="a:dsl-ex example: DSL / Playbook"/>
          <p:cNvGrpSpPr/>
          <p:nvPr/>
        </p:nvGrpSpPr>
        <p:grpSpPr>
          <a:xfrm>
            <a:off x="3037352" y="597843"/>
            <a:ext cx="1652220" cy="239137"/>
            <a:chOff x="1651000" y="698500"/>
            <a:chExt cx="1930400" cy="279400"/>
          </a:xfrm>
        </p:grpSpPr>
        <p:sp>
          <p:nvSpPr>
            <p:cNvPr id="23" name="a:dsl-ex 框"/>
            <p:cNvSpPr/>
            <p:nvPr/>
          </p:nvSpPr>
          <p:spPr>
            <a:xfrm>
              <a:off x="1651000" y="6985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24" name="a:dsl-ex 框"/>
            <p:cNvSpPr/>
            <p:nvPr/>
          </p:nvSpPr>
          <p:spPr>
            <a:xfrm>
              <a:off x="1739900" y="781050"/>
              <a:ext cx="23622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25" name="a:dsl-ex 文字"/>
            <p:cNvSpPr txBox="1"/>
            <p:nvPr/>
          </p:nvSpPr>
          <p:spPr>
            <a:xfrm>
              <a:off x="1702562" y="753236"/>
              <a:ext cx="310896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C2410C"/>
                  </a:solidFill>
                  <a:latin typeface="Helvetica Neue"/>
                  <a:ea typeface="Microsoft YaHei"/>
                </a:rPr>
                <a:t>scan</a:t>
              </a:r>
            </a:p>
          </p:txBody>
        </p:sp>
        <p:sp>
          <p:nvSpPr>
            <p:cNvPr id="26" name="a:dsl-ex 框"/>
            <p:cNvSpPr/>
            <p:nvPr/>
          </p:nvSpPr>
          <p:spPr>
            <a:xfrm>
              <a:off x="2014220" y="781050"/>
              <a:ext cx="29464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27" name="a:dsl-ex 文字"/>
            <p:cNvSpPr txBox="1"/>
            <p:nvPr/>
          </p:nvSpPr>
          <p:spPr>
            <a:xfrm>
              <a:off x="1946655" y="753236"/>
              <a:ext cx="429768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C2410C"/>
                  </a:solidFill>
                  <a:latin typeface="Helvetica Neue"/>
                  <a:ea typeface="Microsoft YaHei"/>
                </a:rPr>
                <a:t>exploit</a:t>
              </a:r>
            </a:p>
          </p:txBody>
        </p:sp>
        <p:sp>
          <p:nvSpPr>
            <p:cNvPr id="28" name="a:dsl-ex 框"/>
            <p:cNvSpPr/>
            <p:nvPr/>
          </p:nvSpPr>
          <p:spPr>
            <a:xfrm>
              <a:off x="2346960" y="781050"/>
              <a:ext cx="48895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29" name="a:dsl-ex 文字"/>
            <p:cNvSpPr txBox="1"/>
            <p:nvPr/>
          </p:nvSpPr>
          <p:spPr>
            <a:xfrm>
              <a:off x="2287397" y="753236"/>
              <a:ext cx="608076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C2410C"/>
                  </a:solidFill>
                  <a:latin typeface="Helvetica Neue"/>
                  <a:ea typeface="Microsoft YaHei"/>
                </a:rPr>
                <a:t>lateral move</a:t>
              </a:r>
            </a:p>
          </p:txBody>
        </p:sp>
        <p:sp>
          <p:nvSpPr>
            <p:cNvPr id="30" name="a:dsl-ex 文字"/>
            <p:cNvSpPr txBox="1"/>
            <p:nvPr/>
          </p:nvSpPr>
          <p:spPr>
            <a:xfrm>
              <a:off x="2886710" y="753236"/>
              <a:ext cx="192024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514">
                  <a:solidFill>
                    <a:srgbClr val="C2410C"/>
                  </a:solidFill>
                  <a:latin typeface="Helvetica Neue"/>
                  <a:ea typeface="Microsoft YaHei"/>
                </a:rPr>
                <a:t>…</a:t>
              </a:r>
            </a:p>
          </p:txBody>
        </p:sp>
      </p:grpSp>
      <p:grpSp>
        <p:nvGrpSpPr>
          <p:cNvPr id="88" name="n:llm LLM"/>
          <p:cNvGrpSpPr/>
          <p:nvPr/>
        </p:nvGrpSpPr>
        <p:grpSpPr>
          <a:xfrm>
            <a:off x="1906886" y="934809"/>
            <a:ext cx="1043507" cy="239137"/>
            <a:chOff x="330200" y="1092200"/>
            <a:chExt cx="1219200" cy="279400"/>
          </a:xfrm>
        </p:grpSpPr>
        <p:sp>
          <p:nvSpPr>
            <p:cNvPr id="31" name="n:llm 框"/>
            <p:cNvSpPr/>
            <p:nvPr/>
          </p:nvSpPr>
          <p:spPr>
            <a:xfrm>
              <a:off x="330200" y="10922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E7E7E7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32" name="n:llm 线"/>
            <p:cNvSpPr/>
            <p:nvPr/>
          </p:nvSpPr>
          <p:spPr>
            <a:xfrm>
              <a:off x="433070" y="1173400"/>
              <a:ext cx="111759" cy="110886"/>
            </a:xfrm>
            <a:custGeom>
              <a:avLst/>
              <a:gdLst/>
              <a:ahLst/>
              <a:cxnLst/>
              <a:rect l="0" t="0" r="r" b="b"/>
              <a:pathLst>
                <a:path w="8799" h="8731">
                  <a:moveTo>
                    <a:pt x="4400" y="894"/>
                  </a:moveTo>
                  <a:cubicBezTo>
                    <a:pt x="3231" y="0"/>
                    <a:pt x="1375" y="481"/>
                    <a:pt x="1100" y="1925"/>
                  </a:cubicBezTo>
                  <a:cubicBezTo>
                    <a:pt x="137" y="2338"/>
                    <a:pt x="0" y="3713"/>
                    <a:pt x="825" y="4400"/>
                  </a:cubicBezTo>
                  <a:cubicBezTo>
                    <a:pt x="275" y="5431"/>
                    <a:pt x="962" y="6806"/>
                    <a:pt x="2200" y="7081"/>
                  </a:cubicBezTo>
                  <a:cubicBezTo>
                    <a:pt x="2475" y="8319"/>
                    <a:pt x="3919" y="8731"/>
                    <a:pt x="4400" y="7906"/>
                  </a:cubicBezTo>
                  <a:cubicBezTo>
                    <a:pt x="4881" y="8731"/>
                    <a:pt x="6325" y="8319"/>
                    <a:pt x="6600" y="7081"/>
                  </a:cubicBezTo>
                  <a:cubicBezTo>
                    <a:pt x="7837" y="6806"/>
                    <a:pt x="8525" y="5431"/>
                    <a:pt x="7975" y="4400"/>
                  </a:cubicBezTo>
                  <a:cubicBezTo>
                    <a:pt x="8800" y="3713"/>
                    <a:pt x="8663" y="2338"/>
                    <a:pt x="7700" y="1925"/>
                  </a:cubicBezTo>
                  <a:cubicBezTo>
                    <a:pt x="7425" y="481"/>
                    <a:pt x="5569" y="0"/>
                    <a:pt x="4400" y="894"/>
                  </a:cubicBezTo>
                  <a:close/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cxnSp>
          <p:nvCxnSpPr>
            <p:cNvPr id="33" name="n:llm 线"/>
            <p:cNvCxnSpPr/>
            <p:nvPr/>
          </p:nvCxnSpPr>
          <p:spPr>
            <a:xfrm>
              <a:off x="488950" y="1184751"/>
              <a:ext cx="0" cy="89059"/>
            </a:xfrm>
            <a:prstGeom prst="line">
              <a:avLst/>
            </a:prstGeom>
            <a:ln w="13843" cap="rnd">
              <a:solidFill>
                <a:srgbClr val="262626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n:llm 线"/>
            <p:cNvSpPr/>
            <p:nvPr/>
          </p:nvSpPr>
          <p:spPr>
            <a:xfrm>
              <a:off x="466248" y="1207452"/>
              <a:ext cx="11350" cy="20954"/>
            </a:xfrm>
            <a:custGeom>
              <a:avLst/>
              <a:gdLst/>
              <a:ahLst/>
              <a:cxnLst/>
              <a:rect l="0" t="0" r="r" b="b"/>
              <a:pathLst>
                <a:path w="893" h="1649" fill="none">
                  <a:moveTo>
                    <a:pt x="0" y="0"/>
                  </a:moveTo>
                  <a:cubicBezTo>
                    <a:pt x="894" y="275"/>
                    <a:pt x="894" y="1306"/>
                    <a:pt x="0" y="1650"/>
                  </a:cubicBez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35" name="n:llm 线"/>
            <p:cNvSpPr/>
            <p:nvPr/>
          </p:nvSpPr>
          <p:spPr>
            <a:xfrm>
              <a:off x="500300" y="1235392"/>
              <a:ext cx="11350" cy="20954"/>
            </a:xfrm>
            <a:custGeom>
              <a:avLst/>
              <a:gdLst/>
              <a:ahLst/>
              <a:cxnLst/>
              <a:rect l="0" t="0" r="r" b="b"/>
              <a:pathLst>
                <a:path w="893" h="1649" fill="none">
                  <a:moveTo>
                    <a:pt x="894" y="0"/>
                  </a:moveTo>
                  <a:cubicBezTo>
                    <a:pt x="0" y="275"/>
                    <a:pt x="0" y="1306"/>
                    <a:pt x="894" y="1650"/>
                  </a:cubicBez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36" name="n:llm 文字"/>
            <p:cNvSpPr txBox="1"/>
            <p:nvPr/>
          </p:nvSpPr>
          <p:spPr>
            <a:xfrm>
              <a:off x="622300" y="1133411"/>
              <a:ext cx="316484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>
                  <a:solidFill>
                    <a:srgbClr val="262626"/>
                  </a:solidFill>
                  <a:latin typeface="Helvetica Neue"/>
                  <a:ea typeface="Microsoft YaHei"/>
                </a:rPr>
                <a:t>LLM</a:t>
              </a:r>
            </a:p>
          </p:txBody>
        </p:sp>
      </p:grpSp>
      <p:grpSp>
        <p:nvGrpSpPr>
          <p:cNvPr id="89" name="a:llm-ex example: LLM"/>
          <p:cNvGrpSpPr/>
          <p:nvPr/>
        </p:nvGrpSpPr>
        <p:grpSpPr>
          <a:xfrm>
            <a:off x="3037352" y="934809"/>
            <a:ext cx="1652220" cy="239137"/>
            <a:chOff x="1651000" y="1092200"/>
            <a:chExt cx="1930400" cy="279400"/>
          </a:xfrm>
        </p:grpSpPr>
        <p:sp>
          <p:nvSpPr>
            <p:cNvPr id="37" name="a:llm-ex 框"/>
            <p:cNvSpPr/>
            <p:nvPr/>
          </p:nvSpPr>
          <p:spPr>
            <a:xfrm>
              <a:off x="1651000" y="10922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600"/>
            </a:p>
          </p:txBody>
        </p:sp>
        <p:sp>
          <p:nvSpPr>
            <p:cNvPr id="38" name="a:llm-ex 文字"/>
            <p:cNvSpPr txBox="1"/>
            <p:nvPr/>
          </p:nvSpPr>
          <p:spPr>
            <a:xfrm>
              <a:off x="1739900" y="1146937"/>
              <a:ext cx="1776983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>
                  <a:solidFill>
                    <a:srgbClr val="262626"/>
                  </a:solidFill>
                  <a:latin typeface="Helvetica Neue"/>
                  <a:ea typeface="Microsoft YaHei"/>
                </a:rPr>
                <a:t>plan a sequence of high-level attack actions</a:t>
              </a:r>
            </a:p>
          </p:txBody>
        </p:sp>
      </p:grpSp>
      <p:grpSp>
        <p:nvGrpSpPr>
          <p:cNvPr id="90" name="n:program DSL program"/>
          <p:cNvGrpSpPr/>
          <p:nvPr/>
        </p:nvGrpSpPr>
        <p:grpSpPr>
          <a:xfrm>
            <a:off x="1906886" y="1271775"/>
            <a:ext cx="1043507" cy="347836"/>
            <a:chOff x="330200" y="1485900"/>
            <a:chExt cx="1219200" cy="406400"/>
          </a:xfrm>
        </p:grpSpPr>
        <p:sp>
          <p:nvSpPr>
            <p:cNvPr id="39" name="n:program 框"/>
            <p:cNvSpPr/>
            <p:nvPr/>
          </p:nvSpPr>
          <p:spPr>
            <a:xfrm>
              <a:off x="330200" y="1485900"/>
              <a:ext cx="1219200" cy="406400"/>
            </a:xfrm>
            <a:prstGeom prst="roundRect">
              <a:avLst>
                <a:gd name="adj" fmla="val 4687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40" name="n:program 圆"/>
            <p:cNvSpPr/>
            <p:nvPr/>
          </p:nvSpPr>
          <p:spPr>
            <a:xfrm>
              <a:off x="471487" y="1631473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41" name="n:program 圆"/>
            <p:cNvSpPr/>
            <p:nvPr/>
          </p:nvSpPr>
          <p:spPr>
            <a:xfrm>
              <a:off x="431323" y="1710055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42" name="n:program 圆"/>
            <p:cNvSpPr/>
            <p:nvPr/>
          </p:nvSpPr>
          <p:spPr>
            <a:xfrm>
              <a:off x="511651" y="1710055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43" name="n:program 线"/>
            <p:cNvSpPr/>
            <p:nvPr/>
          </p:nvSpPr>
          <p:spPr>
            <a:xfrm>
              <a:off x="457517" y="1664652"/>
              <a:ext cx="62865" cy="62865"/>
            </a:xfrm>
            <a:custGeom>
              <a:avLst/>
              <a:gdLst/>
              <a:ahLst/>
              <a:cxnLst/>
              <a:rect l="0" t="0" r="r" b="b"/>
              <a:pathLst>
                <a:path w="4950" h="4950" fill="none">
                  <a:moveTo>
                    <a:pt x="1788" y="0"/>
                  </a:moveTo>
                  <a:lnTo>
                    <a:pt x="0" y="3713"/>
                  </a:lnTo>
                  <a:moveTo>
                    <a:pt x="3163" y="0"/>
                  </a:moveTo>
                  <a:lnTo>
                    <a:pt x="4950" y="3713"/>
                  </a:lnTo>
                  <a:moveTo>
                    <a:pt x="688" y="4950"/>
                  </a:moveTo>
                  <a:lnTo>
                    <a:pt x="4263" y="4950"/>
                  </a:lnTo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44" name="n:program 文字"/>
            <p:cNvSpPr txBox="1"/>
            <p:nvPr/>
          </p:nvSpPr>
          <p:spPr>
            <a:xfrm>
              <a:off x="622300" y="1590611"/>
              <a:ext cx="663193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dirty="0">
                  <a:solidFill>
                    <a:srgbClr val="262626"/>
                  </a:solidFill>
                  <a:latin typeface="Helvetica Neue"/>
                  <a:ea typeface="Microsoft YaHei"/>
                </a:rPr>
                <a:t>DSL program</a:t>
              </a:r>
            </a:p>
          </p:txBody>
        </p:sp>
      </p:grpSp>
      <p:grpSp>
        <p:nvGrpSpPr>
          <p:cNvPr id="91" name="a:program-ex example: DSL program"/>
          <p:cNvGrpSpPr/>
          <p:nvPr/>
        </p:nvGrpSpPr>
        <p:grpSpPr>
          <a:xfrm>
            <a:off x="3037352" y="1271775"/>
            <a:ext cx="1652220" cy="347836"/>
            <a:chOff x="1651000" y="1485900"/>
            <a:chExt cx="1930400" cy="406400"/>
          </a:xfrm>
        </p:grpSpPr>
        <p:sp>
          <p:nvSpPr>
            <p:cNvPr id="45" name="a:program-ex 框"/>
            <p:cNvSpPr/>
            <p:nvPr/>
          </p:nvSpPr>
          <p:spPr>
            <a:xfrm>
              <a:off x="1651000" y="1485900"/>
              <a:ext cx="1930400" cy="406400"/>
            </a:xfrm>
            <a:prstGeom prst="roundRect">
              <a:avLst>
                <a:gd name="adj" fmla="val 625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46" name="a:program-ex 文字"/>
            <p:cNvSpPr txBox="1"/>
            <p:nvPr/>
          </p:nvSpPr>
          <p:spPr>
            <a:xfrm>
              <a:off x="1739900" y="1501267"/>
              <a:ext cx="647699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>
                  <a:solidFill>
                    <a:srgbClr val="262626"/>
                  </a:solidFill>
                  <a:latin typeface="Menlo"/>
                  <a:ea typeface="Microsoft YaHei"/>
                </a:rPr>
                <a:t>1 Scan(hosts)</a:t>
              </a:r>
            </a:p>
          </p:txBody>
        </p:sp>
        <p:sp>
          <p:nvSpPr>
            <p:cNvPr id="47" name="a:program-ex 文字"/>
            <p:cNvSpPr txBox="1"/>
            <p:nvPr/>
          </p:nvSpPr>
          <p:spPr>
            <a:xfrm>
              <a:off x="1739900" y="1602867"/>
              <a:ext cx="964691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dirty="0">
                  <a:solidFill>
                    <a:srgbClr val="262626"/>
                  </a:solidFill>
                  <a:latin typeface="Menlo"/>
                  <a:ea typeface="Microsoft YaHei"/>
                </a:rPr>
                <a:t>2 </a:t>
              </a:r>
              <a:r>
                <a:rPr sz="600" dirty="0" err="1">
                  <a:solidFill>
                    <a:srgbClr val="262626"/>
                  </a:solidFill>
                  <a:latin typeface="Menlo"/>
                  <a:ea typeface="Microsoft YaHei"/>
                </a:rPr>
                <a:t>LateralMove</a:t>
              </a:r>
              <a:r>
                <a:rPr sz="600" dirty="0">
                  <a:solidFill>
                    <a:srgbClr val="262626"/>
                  </a:solidFill>
                  <a:latin typeface="Menlo"/>
                  <a:ea typeface="Microsoft YaHei"/>
                </a:rPr>
                <a:t>(target)</a:t>
              </a:r>
            </a:p>
          </p:txBody>
        </p:sp>
        <p:sp>
          <p:nvSpPr>
            <p:cNvPr id="48" name="a:program-ex 文字"/>
            <p:cNvSpPr txBox="1"/>
            <p:nvPr/>
          </p:nvSpPr>
          <p:spPr>
            <a:xfrm>
              <a:off x="1739900" y="1704467"/>
              <a:ext cx="1004315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dirty="0">
                  <a:solidFill>
                    <a:srgbClr val="262626"/>
                  </a:solidFill>
                  <a:latin typeface="Menlo"/>
                  <a:ea typeface="Microsoft YaHei"/>
                </a:rPr>
                <a:t>3 </a:t>
              </a:r>
              <a:r>
                <a:rPr sz="600" dirty="0" err="1">
                  <a:solidFill>
                    <a:srgbClr val="262626"/>
                  </a:solidFill>
                  <a:latin typeface="Menlo"/>
                  <a:ea typeface="Microsoft YaHei"/>
                </a:rPr>
                <a:t>ExfiltrateData</a:t>
              </a:r>
              <a:r>
                <a:rPr sz="600" dirty="0">
                  <a:solidFill>
                    <a:srgbClr val="262626"/>
                  </a:solidFill>
                  <a:latin typeface="Menlo"/>
                  <a:ea typeface="Microsoft YaHei"/>
                </a:rPr>
                <a:t>(path)</a:t>
              </a:r>
            </a:p>
          </p:txBody>
        </p:sp>
      </p:grpSp>
      <p:grpSp>
        <p:nvGrpSpPr>
          <p:cNvPr id="92" name="n:runtime DSL runtime engine"/>
          <p:cNvGrpSpPr/>
          <p:nvPr/>
        </p:nvGrpSpPr>
        <p:grpSpPr>
          <a:xfrm>
            <a:off x="1906886" y="1717439"/>
            <a:ext cx="1074812" cy="239137"/>
            <a:chOff x="330200" y="2006600"/>
            <a:chExt cx="1255775" cy="279400"/>
          </a:xfrm>
        </p:grpSpPr>
        <p:sp>
          <p:nvSpPr>
            <p:cNvPr id="49" name="n:runtime 框"/>
            <p:cNvSpPr/>
            <p:nvPr/>
          </p:nvSpPr>
          <p:spPr>
            <a:xfrm>
              <a:off x="330200" y="20066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50" name="n:runtime 线"/>
            <p:cNvSpPr/>
            <p:nvPr/>
          </p:nvSpPr>
          <p:spPr>
            <a:xfrm>
              <a:off x="432284" y="2089634"/>
              <a:ext cx="113331" cy="113331"/>
            </a:xfrm>
            <a:custGeom>
              <a:avLst/>
              <a:gdLst/>
              <a:ahLst/>
              <a:cxnLst/>
              <a:rect l="0" t="0" r="r" b="b"/>
              <a:pathLst>
                <a:path w="8923" h="8923">
                  <a:moveTo>
                    <a:pt x="8924" y="3644"/>
                  </a:moveTo>
                  <a:lnTo>
                    <a:pt x="8924" y="5280"/>
                  </a:lnTo>
                  <a:lnTo>
                    <a:pt x="7542" y="5438"/>
                  </a:lnTo>
                  <a:lnTo>
                    <a:pt x="7329" y="5954"/>
                  </a:lnTo>
                  <a:lnTo>
                    <a:pt x="8195" y="7040"/>
                  </a:lnTo>
                  <a:lnTo>
                    <a:pt x="7040" y="8195"/>
                  </a:lnTo>
                  <a:lnTo>
                    <a:pt x="5954" y="7329"/>
                  </a:lnTo>
                  <a:lnTo>
                    <a:pt x="5438" y="7542"/>
                  </a:lnTo>
                  <a:lnTo>
                    <a:pt x="5280" y="8924"/>
                  </a:lnTo>
                  <a:lnTo>
                    <a:pt x="3644" y="8924"/>
                  </a:lnTo>
                  <a:lnTo>
                    <a:pt x="3486" y="7542"/>
                  </a:lnTo>
                  <a:lnTo>
                    <a:pt x="2970" y="7329"/>
                  </a:lnTo>
                  <a:lnTo>
                    <a:pt x="1884" y="8195"/>
                  </a:lnTo>
                  <a:lnTo>
                    <a:pt x="729" y="7040"/>
                  </a:lnTo>
                  <a:lnTo>
                    <a:pt x="1595" y="5954"/>
                  </a:lnTo>
                  <a:lnTo>
                    <a:pt x="1382" y="5438"/>
                  </a:lnTo>
                  <a:lnTo>
                    <a:pt x="0" y="5280"/>
                  </a:lnTo>
                  <a:lnTo>
                    <a:pt x="0" y="3644"/>
                  </a:lnTo>
                  <a:lnTo>
                    <a:pt x="1382" y="3486"/>
                  </a:lnTo>
                  <a:lnTo>
                    <a:pt x="1595" y="2970"/>
                  </a:lnTo>
                  <a:lnTo>
                    <a:pt x="729" y="1884"/>
                  </a:lnTo>
                  <a:lnTo>
                    <a:pt x="1884" y="729"/>
                  </a:lnTo>
                  <a:lnTo>
                    <a:pt x="2970" y="1595"/>
                  </a:lnTo>
                  <a:lnTo>
                    <a:pt x="3486" y="1382"/>
                  </a:lnTo>
                  <a:lnTo>
                    <a:pt x="3644" y="0"/>
                  </a:lnTo>
                  <a:lnTo>
                    <a:pt x="5280" y="0"/>
                  </a:lnTo>
                  <a:lnTo>
                    <a:pt x="5438" y="1382"/>
                  </a:lnTo>
                  <a:lnTo>
                    <a:pt x="5954" y="1595"/>
                  </a:lnTo>
                  <a:lnTo>
                    <a:pt x="7040" y="729"/>
                  </a:lnTo>
                  <a:lnTo>
                    <a:pt x="8195" y="1884"/>
                  </a:lnTo>
                  <a:lnTo>
                    <a:pt x="7329" y="2970"/>
                  </a:lnTo>
                  <a:lnTo>
                    <a:pt x="7542" y="3486"/>
                  </a:lnTo>
                  <a:close/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51" name="n:runtime 圆"/>
            <p:cNvSpPr/>
            <p:nvPr/>
          </p:nvSpPr>
          <p:spPr>
            <a:xfrm>
              <a:off x="470614" y="2127964"/>
              <a:ext cx="36671" cy="36671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52" name="n:runtime 文字"/>
            <p:cNvSpPr txBox="1"/>
            <p:nvPr/>
          </p:nvSpPr>
          <p:spPr>
            <a:xfrm>
              <a:off x="622300" y="2047811"/>
              <a:ext cx="963675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700" b="1" dirty="0">
                  <a:solidFill>
                    <a:srgbClr val="262626"/>
                  </a:solidFill>
                  <a:latin typeface="Helvetica Neue"/>
                  <a:ea typeface="Microsoft YaHei"/>
                </a:rPr>
                <a:t>R</a:t>
              </a:r>
              <a:r>
                <a:rPr sz="700" b="1" dirty="0">
                  <a:solidFill>
                    <a:srgbClr val="262626"/>
                  </a:solidFill>
                  <a:latin typeface="Helvetica Neue"/>
                  <a:ea typeface="Microsoft YaHei"/>
                </a:rPr>
                <a:t>untime engine</a:t>
              </a:r>
            </a:p>
          </p:txBody>
        </p:sp>
      </p:grpSp>
      <p:grpSp>
        <p:nvGrpSpPr>
          <p:cNvPr id="93" name="a:runtime-ex example: DSL runtime eng"/>
          <p:cNvGrpSpPr/>
          <p:nvPr/>
        </p:nvGrpSpPr>
        <p:grpSpPr>
          <a:xfrm>
            <a:off x="3037352" y="1717439"/>
            <a:ext cx="1652220" cy="239137"/>
            <a:chOff x="1651000" y="2006600"/>
            <a:chExt cx="1930400" cy="279400"/>
          </a:xfrm>
        </p:grpSpPr>
        <p:sp>
          <p:nvSpPr>
            <p:cNvPr id="53" name="a:runtime-ex 框"/>
            <p:cNvSpPr/>
            <p:nvPr/>
          </p:nvSpPr>
          <p:spPr>
            <a:xfrm>
              <a:off x="1651000" y="20066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54" name="a:runtime-ex 框"/>
            <p:cNvSpPr/>
            <p:nvPr/>
          </p:nvSpPr>
          <p:spPr>
            <a:xfrm>
              <a:off x="1739900" y="2089150"/>
              <a:ext cx="26543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55" name="a:runtime-ex 文字"/>
            <p:cNvSpPr txBox="1"/>
            <p:nvPr/>
          </p:nvSpPr>
          <p:spPr>
            <a:xfrm>
              <a:off x="1717166" y="2061337"/>
              <a:ext cx="310896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5A5A5A"/>
                  </a:solidFill>
                  <a:latin typeface="Helvetica Neue"/>
                  <a:ea typeface="Microsoft YaHei"/>
                </a:rPr>
                <a:t>nmap</a:t>
              </a:r>
            </a:p>
          </p:txBody>
        </p:sp>
        <p:sp>
          <p:nvSpPr>
            <p:cNvPr id="56" name="a:runtime-ex 框"/>
            <p:cNvSpPr/>
            <p:nvPr/>
          </p:nvSpPr>
          <p:spPr>
            <a:xfrm>
              <a:off x="2043430" y="2089150"/>
              <a:ext cx="42164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57" name="a:runtime-ex 文字"/>
            <p:cNvSpPr txBox="1"/>
            <p:nvPr/>
          </p:nvSpPr>
          <p:spPr>
            <a:xfrm>
              <a:off x="1979930" y="2061337"/>
              <a:ext cx="548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5A5A5A"/>
                  </a:solidFill>
                  <a:latin typeface="Helvetica Neue"/>
                  <a:ea typeface="Microsoft YaHei"/>
                </a:rPr>
                <a:t>Metasploit</a:t>
              </a:r>
            </a:p>
          </p:txBody>
        </p:sp>
        <p:sp>
          <p:nvSpPr>
            <p:cNvPr id="58" name="a:runtime-ex 框"/>
            <p:cNvSpPr/>
            <p:nvPr/>
          </p:nvSpPr>
          <p:spPr>
            <a:xfrm>
              <a:off x="2503170" y="2089150"/>
              <a:ext cx="52832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59" name="a:runtime-ex 文字"/>
            <p:cNvSpPr txBox="1"/>
            <p:nvPr/>
          </p:nvSpPr>
          <p:spPr>
            <a:xfrm>
              <a:off x="2423668" y="2061337"/>
              <a:ext cx="687323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5A5A5A"/>
                  </a:solidFill>
                  <a:latin typeface="Helvetica Neue"/>
                  <a:ea typeface="Microsoft YaHei"/>
                </a:rPr>
                <a:t>state tracking</a:t>
              </a:r>
            </a:p>
          </p:txBody>
        </p:sp>
      </p:grpSp>
      <p:grpSp>
        <p:nvGrpSpPr>
          <p:cNvPr id="94" name="n:answer Answer"/>
          <p:cNvGrpSpPr/>
          <p:nvPr/>
        </p:nvGrpSpPr>
        <p:grpSpPr>
          <a:xfrm>
            <a:off x="1906886" y="2054405"/>
            <a:ext cx="1043507" cy="369576"/>
            <a:chOff x="330200" y="2400300"/>
            <a:chExt cx="1219200" cy="431800"/>
          </a:xfrm>
        </p:grpSpPr>
        <p:sp>
          <p:nvSpPr>
            <p:cNvPr id="60" name="n:answer 框"/>
            <p:cNvSpPr/>
            <p:nvPr/>
          </p:nvSpPr>
          <p:spPr>
            <a:xfrm>
              <a:off x="330200" y="2400300"/>
              <a:ext cx="1219200" cy="431800"/>
            </a:xfrm>
            <a:prstGeom prst="roundRect">
              <a:avLst>
                <a:gd name="adj" fmla="val 4411"/>
              </a:avLst>
            </a:prstGeom>
            <a:solidFill>
              <a:srgbClr val="C2410C">
                <a:alpha val="70000"/>
              </a:srgbClr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61" name="n:answer 圆"/>
            <p:cNvSpPr/>
            <p:nvPr/>
          </p:nvSpPr>
          <p:spPr>
            <a:xfrm>
              <a:off x="438308" y="2565558"/>
              <a:ext cx="76835" cy="76835"/>
            </a:xfrm>
            <a:prstGeom prst="ellipse">
              <a:avLst/>
            </a:prstGeom>
            <a:noFill/>
            <a:ln w="13843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cxnSp>
          <p:nvCxnSpPr>
            <p:cNvPr id="62" name="n:answer 线"/>
            <p:cNvCxnSpPr/>
            <p:nvPr/>
          </p:nvCxnSpPr>
          <p:spPr>
            <a:xfrm>
              <a:off x="504666" y="2631916"/>
              <a:ext cx="38417" cy="38417"/>
            </a:xfrm>
            <a:prstGeom prst="line">
              <a:avLst/>
            </a:prstGeom>
            <a:ln w="13843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n:answer 文字"/>
            <p:cNvSpPr txBox="1"/>
            <p:nvPr/>
          </p:nvSpPr>
          <p:spPr>
            <a:xfrm>
              <a:off x="622300" y="2517711"/>
              <a:ext cx="455168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dirty="0">
                  <a:solidFill>
                    <a:srgbClr val="FFFFFF"/>
                  </a:solidFill>
                  <a:latin typeface="Helvetica Neue"/>
                  <a:ea typeface="Microsoft YaHei"/>
                </a:rPr>
                <a:t>Answer</a:t>
              </a:r>
            </a:p>
          </p:txBody>
        </p:sp>
      </p:grpSp>
      <p:grpSp>
        <p:nvGrpSpPr>
          <p:cNvPr id="95" name="a:answer-ex example: Answer"/>
          <p:cNvGrpSpPr/>
          <p:nvPr/>
        </p:nvGrpSpPr>
        <p:grpSpPr>
          <a:xfrm>
            <a:off x="3037352" y="2054405"/>
            <a:ext cx="1652220" cy="369576"/>
            <a:chOff x="1651000" y="2400300"/>
            <a:chExt cx="1930400" cy="431800"/>
          </a:xfrm>
        </p:grpSpPr>
        <p:sp>
          <p:nvSpPr>
            <p:cNvPr id="64" name="a:answer-ex 框"/>
            <p:cNvSpPr/>
            <p:nvPr/>
          </p:nvSpPr>
          <p:spPr>
            <a:xfrm>
              <a:off x="1651000" y="2400300"/>
              <a:ext cx="1930400" cy="431800"/>
            </a:xfrm>
            <a:prstGeom prst="roundRect">
              <a:avLst>
                <a:gd name="adj" fmla="val 5882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65" name="a:answer-ex 框"/>
            <p:cNvSpPr/>
            <p:nvPr/>
          </p:nvSpPr>
          <p:spPr>
            <a:xfrm>
              <a:off x="1901825" y="2492375"/>
              <a:ext cx="114300" cy="76200"/>
            </a:xfrm>
            <a:prstGeom prst="roundRect">
              <a:avLst>
                <a:gd name="adj" fmla="val 10000"/>
              </a:avLst>
            </a:pr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66" name="a:answer-ex 线"/>
            <p:cNvSpPr/>
            <p:nvPr/>
          </p:nvSpPr>
          <p:spPr>
            <a:xfrm>
              <a:off x="1930400" y="2568575"/>
              <a:ext cx="57150" cy="23812"/>
            </a:xfrm>
            <a:custGeom>
              <a:avLst/>
              <a:gdLst/>
              <a:ahLst/>
              <a:cxnLst/>
              <a:rect l="0" t="0" r="r" b="b"/>
              <a:pathLst>
                <a:path w="4500" h="1875" fill="none">
                  <a:moveTo>
                    <a:pt x="2250" y="0"/>
                  </a:moveTo>
                  <a:lnTo>
                    <a:pt x="2250" y="1875"/>
                  </a:lnTo>
                  <a:moveTo>
                    <a:pt x="0" y="1875"/>
                  </a:moveTo>
                  <a:lnTo>
                    <a:pt x="4500" y="1875"/>
                  </a:lnTo>
                </a:path>
              </a:pathLst>
            </a:cu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41"/>
            </a:p>
          </p:txBody>
        </p:sp>
        <p:sp>
          <p:nvSpPr>
            <p:cNvPr id="67" name="a:answer-ex 文字"/>
            <p:cNvSpPr txBox="1"/>
            <p:nvPr/>
          </p:nvSpPr>
          <p:spPr>
            <a:xfrm>
              <a:off x="1724279" y="2637917"/>
              <a:ext cx="469392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 dirty="0">
                  <a:solidFill>
                    <a:srgbClr val="262626"/>
                  </a:solidFill>
                  <a:latin typeface="Helvetica Neue"/>
                  <a:ea typeface="Microsoft YaHei"/>
                </a:rPr>
                <a:t>foothold</a:t>
              </a:r>
            </a:p>
          </p:txBody>
        </p:sp>
        <p:cxnSp>
          <p:nvCxnSpPr>
            <p:cNvPr id="68" name="a:answer-ex 线"/>
            <p:cNvCxnSpPr/>
            <p:nvPr/>
          </p:nvCxnSpPr>
          <p:spPr>
            <a:xfrm>
              <a:off x="2073275" y="2540000"/>
              <a:ext cx="209550" cy="0"/>
            </a:xfrm>
            <a:prstGeom prst="line">
              <a:avLst/>
            </a:prstGeom>
            <a:ln w="7620" cap="flat">
              <a:solidFill>
                <a:srgbClr val="5A5A5A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a:answer-ex 框"/>
            <p:cNvSpPr/>
            <p:nvPr/>
          </p:nvSpPr>
          <p:spPr>
            <a:xfrm>
              <a:off x="2349500" y="2482850"/>
              <a:ext cx="95250" cy="34290"/>
            </a:xfrm>
            <a:prstGeom prst="roundRect">
              <a:avLst>
                <a:gd name="adj" fmla="val 16666"/>
              </a:avLst>
            </a:pr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70" name="a:answer-ex 框"/>
            <p:cNvSpPr/>
            <p:nvPr/>
          </p:nvSpPr>
          <p:spPr>
            <a:xfrm>
              <a:off x="2349500" y="2522855"/>
              <a:ext cx="95250" cy="34290"/>
            </a:xfrm>
            <a:prstGeom prst="roundRect">
              <a:avLst>
                <a:gd name="adj" fmla="val 16666"/>
              </a:avLst>
            </a:pr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71" name="a:answer-ex 框"/>
            <p:cNvSpPr/>
            <p:nvPr/>
          </p:nvSpPr>
          <p:spPr>
            <a:xfrm>
              <a:off x="2349500" y="2562860"/>
              <a:ext cx="95250" cy="34290"/>
            </a:xfrm>
            <a:prstGeom prst="roundRect">
              <a:avLst>
                <a:gd name="adj" fmla="val 16666"/>
              </a:avLst>
            </a:pr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72" name="a:answer-ex 线"/>
            <p:cNvSpPr/>
            <p:nvPr/>
          </p:nvSpPr>
          <p:spPr>
            <a:xfrm>
              <a:off x="2368550" y="2499995"/>
              <a:ext cx="1905" cy="80010"/>
            </a:xfrm>
            <a:custGeom>
              <a:avLst/>
              <a:gdLst/>
              <a:ahLst/>
              <a:cxnLst/>
              <a:rect l="0" t="0" r="r" b="b"/>
              <a:pathLst>
                <a:path w="150" h="6300" fill="none">
                  <a:moveTo>
                    <a:pt x="0" y="0"/>
                  </a:moveTo>
                  <a:lnTo>
                    <a:pt x="150" y="0"/>
                  </a:lnTo>
                  <a:moveTo>
                    <a:pt x="0" y="3150"/>
                  </a:moveTo>
                  <a:lnTo>
                    <a:pt x="150" y="3150"/>
                  </a:lnTo>
                  <a:moveTo>
                    <a:pt x="0" y="6300"/>
                  </a:moveTo>
                  <a:lnTo>
                    <a:pt x="150" y="6300"/>
                  </a:lnTo>
                </a:path>
              </a:pathLst>
            </a:cu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41"/>
            </a:p>
          </p:txBody>
        </p:sp>
        <p:sp>
          <p:nvSpPr>
            <p:cNvPr id="73" name="a:answer-ex 文字"/>
            <p:cNvSpPr txBox="1"/>
            <p:nvPr/>
          </p:nvSpPr>
          <p:spPr>
            <a:xfrm>
              <a:off x="2221865" y="2637917"/>
              <a:ext cx="35052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>
                  <a:solidFill>
                    <a:srgbClr val="262626"/>
                  </a:solidFill>
                  <a:latin typeface="Helvetica Neue"/>
                  <a:ea typeface="Microsoft YaHei"/>
                </a:rPr>
                <a:t>pivot</a:t>
              </a:r>
            </a:p>
          </p:txBody>
        </p:sp>
        <p:cxnSp>
          <p:nvCxnSpPr>
            <p:cNvPr id="74" name="a:answer-ex 线"/>
            <p:cNvCxnSpPr/>
            <p:nvPr/>
          </p:nvCxnSpPr>
          <p:spPr>
            <a:xfrm>
              <a:off x="2511425" y="2540000"/>
              <a:ext cx="209550" cy="0"/>
            </a:xfrm>
            <a:prstGeom prst="line">
              <a:avLst/>
            </a:prstGeom>
            <a:ln w="7620" cap="flat">
              <a:solidFill>
                <a:srgbClr val="5A5A5A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a:answer-ex 线"/>
            <p:cNvSpPr/>
            <p:nvPr/>
          </p:nvSpPr>
          <p:spPr>
            <a:xfrm>
              <a:off x="2797175" y="2482850"/>
              <a:ext cx="80962" cy="114300"/>
            </a:xfrm>
            <a:custGeom>
              <a:avLst/>
              <a:gdLst/>
              <a:ahLst/>
              <a:cxnLst/>
              <a:rect l="0" t="0" r="r" b="b"/>
              <a:pathLst>
                <a:path w="6375" h="9000">
                  <a:moveTo>
                    <a:pt x="0" y="0"/>
                  </a:moveTo>
                  <a:lnTo>
                    <a:pt x="4125" y="0"/>
                  </a:lnTo>
                  <a:lnTo>
                    <a:pt x="6375" y="2250"/>
                  </a:lnTo>
                  <a:lnTo>
                    <a:pt x="6375" y="9000"/>
                  </a:lnTo>
                  <a:lnTo>
                    <a:pt x="0" y="9000"/>
                  </a:lnTo>
                  <a:close/>
                </a:path>
              </a:pathLst>
            </a:cu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41"/>
            </a:p>
          </p:txBody>
        </p:sp>
        <p:sp>
          <p:nvSpPr>
            <p:cNvPr id="76" name="a:answer-ex 线"/>
            <p:cNvSpPr/>
            <p:nvPr/>
          </p:nvSpPr>
          <p:spPr>
            <a:xfrm>
              <a:off x="2816225" y="2482850"/>
              <a:ext cx="61912" cy="98107"/>
            </a:xfrm>
            <a:custGeom>
              <a:avLst/>
              <a:gdLst/>
              <a:ahLst/>
              <a:cxnLst/>
              <a:rect l="0" t="0" r="r" b="b"/>
              <a:pathLst>
                <a:path w="4875" h="7724" fill="none">
                  <a:moveTo>
                    <a:pt x="2625" y="0"/>
                  </a:moveTo>
                  <a:lnTo>
                    <a:pt x="2625" y="2250"/>
                  </a:lnTo>
                  <a:lnTo>
                    <a:pt x="4875" y="2250"/>
                  </a:lnTo>
                  <a:moveTo>
                    <a:pt x="0" y="4500"/>
                  </a:moveTo>
                  <a:lnTo>
                    <a:pt x="3375" y="4500"/>
                  </a:lnTo>
                  <a:moveTo>
                    <a:pt x="0" y="6225"/>
                  </a:moveTo>
                  <a:lnTo>
                    <a:pt x="3375" y="6225"/>
                  </a:lnTo>
                  <a:moveTo>
                    <a:pt x="0" y="7725"/>
                  </a:moveTo>
                  <a:lnTo>
                    <a:pt x="2250" y="7725"/>
                  </a:lnTo>
                </a:path>
              </a:pathLst>
            </a:custGeom>
            <a:noFill/>
            <a:ln w="12700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41"/>
            </a:p>
          </p:txBody>
        </p:sp>
        <p:sp>
          <p:nvSpPr>
            <p:cNvPr id="77" name="a:answer-ex 文字"/>
            <p:cNvSpPr txBox="1"/>
            <p:nvPr/>
          </p:nvSpPr>
          <p:spPr>
            <a:xfrm>
              <a:off x="2590673" y="2637917"/>
              <a:ext cx="489203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>
                  <a:solidFill>
                    <a:srgbClr val="262626"/>
                  </a:solidFill>
                  <a:latin typeface="Helvetica Neue"/>
                  <a:ea typeface="Microsoft YaHei"/>
                </a:rPr>
                <a:t>find data</a:t>
              </a:r>
            </a:p>
          </p:txBody>
        </p:sp>
        <p:cxnSp>
          <p:nvCxnSpPr>
            <p:cNvPr id="78" name="a:answer-ex 线"/>
            <p:cNvCxnSpPr/>
            <p:nvPr/>
          </p:nvCxnSpPr>
          <p:spPr>
            <a:xfrm>
              <a:off x="2949575" y="2540000"/>
              <a:ext cx="209550" cy="0"/>
            </a:xfrm>
            <a:prstGeom prst="line">
              <a:avLst/>
            </a:prstGeom>
            <a:ln w="7620" cap="flat">
              <a:solidFill>
                <a:srgbClr val="5A5A5A"/>
              </a:solidFill>
              <a:miter/>
              <a:tailEnd type="triangle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a:answer-ex 圆"/>
            <p:cNvSpPr/>
            <p:nvPr/>
          </p:nvSpPr>
          <p:spPr>
            <a:xfrm>
              <a:off x="3225800" y="2482850"/>
              <a:ext cx="95250" cy="34290"/>
            </a:xfrm>
            <a:prstGeom prst="ellipse">
              <a:avLst/>
            </a:prstGeom>
            <a:noFill/>
            <a:ln w="12700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80" name="a:answer-ex 线"/>
            <p:cNvSpPr/>
            <p:nvPr/>
          </p:nvSpPr>
          <p:spPr>
            <a:xfrm>
              <a:off x="3225800" y="2499995"/>
              <a:ext cx="95250" cy="97155"/>
            </a:xfrm>
            <a:custGeom>
              <a:avLst/>
              <a:gdLst/>
              <a:ahLst/>
              <a:cxnLst/>
              <a:rect l="0" t="0" r="r" b="b"/>
              <a:pathLst>
                <a:path w="7500" h="7650" fill="none">
                  <a:moveTo>
                    <a:pt x="0" y="0"/>
                  </a:moveTo>
                  <a:lnTo>
                    <a:pt x="0" y="6300"/>
                  </a:lnTo>
                  <a:cubicBezTo>
                    <a:pt x="0" y="7050"/>
                    <a:pt x="1650" y="7650"/>
                    <a:pt x="3750" y="7650"/>
                  </a:cubicBezTo>
                  <a:cubicBezTo>
                    <a:pt x="5850" y="7650"/>
                    <a:pt x="7500" y="7050"/>
                    <a:pt x="7500" y="6300"/>
                  </a:cubicBezTo>
                  <a:lnTo>
                    <a:pt x="7500" y="0"/>
                  </a:lnTo>
                  <a:moveTo>
                    <a:pt x="0" y="3150"/>
                  </a:moveTo>
                  <a:cubicBezTo>
                    <a:pt x="0" y="3900"/>
                    <a:pt x="1650" y="4500"/>
                    <a:pt x="3750" y="4500"/>
                  </a:cubicBezTo>
                  <a:cubicBezTo>
                    <a:pt x="5850" y="4500"/>
                    <a:pt x="7500" y="3900"/>
                    <a:pt x="7500" y="3150"/>
                  </a:cubicBezTo>
                </a:path>
              </a:pathLst>
            </a:custGeom>
            <a:noFill/>
            <a:ln w="12700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41"/>
            </a:p>
          </p:txBody>
        </p:sp>
        <p:sp>
          <p:nvSpPr>
            <p:cNvPr id="81" name="a:answer-ex 文字"/>
            <p:cNvSpPr txBox="1"/>
            <p:nvPr/>
          </p:nvSpPr>
          <p:spPr>
            <a:xfrm>
              <a:off x="2999105" y="2637917"/>
              <a:ext cx="5486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600">
                  <a:solidFill>
                    <a:srgbClr val="262626"/>
                  </a:solidFill>
                  <a:latin typeface="Helvetica Neue"/>
                  <a:ea typeface="Microsoft YaHei"/>
                </a:rPr>
                <a:t>exfiltrate</a:t>
              </a:r>
            </a:p>
          </p:txBody>
        </p:sp>
      </p:grpSp>
      <p:sp>
        <p:nvSpPr>
          <p:cNvPr id="82" name="a:title 文字"/>
          <p:cNvSpPr txBox="1"/>
          <p:nvPr/>
        </p:nvSpPr>
        <p:spPr>
          <a:xfrm>
            <a:off x="2077997" y="39132"/>
            <a:ext cx="2457459" cy="1913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C2410C"/>
                </a:solidFill>
                <a:latin typeface="Helvetica Neue"/>
                <a:ea typeface="Microsoft YaHei"/>
              </a:rPr>
              <a:t>C</a:t>
            </a:r>
            <a:r>
              <a:rPr sz="900" b="1" dirty="0">
                <a:solidFill>
                  <a:srgbClr val="C2410C"/>
                </a:solidFill>
                <a:latin typeface="Helvetica Neue"/>
                <a:ea typeface="Microsoft YaHei"/>
              </a:rPr>
              <a:t>yber red-teaming via Constrained Creativity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e:e-task-dsl 线"/>
          <p:cNvCxnSpPr/>
          <p:nvPr/>
        </p:nvCxnSpPr>
        <p:spPr>
          <a:xfrm>
            <a:off x="2428639" y="500014"/>
            <a:ext cx="0" cy="97829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:e-dsl-llm 线"/>
          <p:cNvCxnSpPr/>
          <p:nvPr/>
        </p:nvCxnSpPr>
        <p:spPr>
          <a:xfrm>
            <a:off x="2428639" y="836980"/>
            <a:ext cx="0" cy="97829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:e-llm-program 线"/>
          <p:cNvCxnSpPr/>
          <p:nvPr/>
        </p:nvCxnSpPr>
        <p:spPr>
          <a:xfrm>
            <a:off x="2428639" y="1173946"/>
            <a:ext cx="0" cy="97829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:e-program-runtime 线"/>
          <p:cNvCxnSpPr/>
          <p:nvPr/>
        </p:nvCxnSpPr>
        <p:spPr>
          <a:xfrm>
            <a:off x="2428639" y="1619610"/>
            <a:ext cx="0" cy="97829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:e-runtime-answer 线"/>
          <p:cNvCxnSpPr/>
          <p:nvPr/>
        </p:nvCxnSpPr>
        <p:spPr>
          <a:xfrm>
            <a:off x="2428639" y="1956576"/>
            <a:ext cx="0" cy="97829"/>
          </a:xfrm>
          <a:prstGeom prst="line">
            <a:avLst/>
          </a:prstGeom>
          <a:ln w="12700" cap="flat">
            <a:solidFill>
              <a:srgbClr val="C2410C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4" name="e:e-iter runtime→llm"/>
          <p:cNvGrpSpPr/>
          <p:nvPr/>
        </p:nvGrpSpPr>
        <p:grpSpPr>
          <a:xfrm>
            <a:off x="1548290" y="1054377"/>
            <a:ext cx="358596" cy="782631"/>
            <a:chOff x="-88772" y="1231900"/>
            <a:chExt cx="418972" cy="914400"/>
          </a:xfrm>
        </p:grpSpPr>
        <p:sp>
          <p:nvSpPr>
            <p:cNvPr id="8" name="e:e-iter 线"/>
            <p:cNvSpPr/>
            <p:nvPr/>
          </p:nvSpPr>
          <p:spPr>
            <a:xfrm>
              <a:off x="165100" y="1231900"/>
              <a:ext cx="165100" cy="914400"/>
            </a:xfrm>
            <a:custGeom>
              <a:avLst/>
              <a:gdLst/>
              <a:ahLst/>
              <a:cxnLst/>
              <a:rect l="0" t="0" r="r" b="b"/>
              <a:pathLst>
                <a:path w="13000" h="72000" fill="none">
                  <a:moveTo>
                    <a:pt x="13000" y="72000"/>
                  </a:moveTo>
                  <a:lnTo>
                    <a:pt x="0" y="72000"/>
                  </a:lnTo>
                  <a:lnTo>
                    <a:pt x="0" y="0"/>
                  </a:lnTo>
                  <a:lnTo>
                    <a:pt x="13000" y="0"/>
                  </a:lnTo>
                </a:path>
              </a:pathLst>
            </a:custGeom>
            <a:noFill/>
            <a:ln w="9144" cap="flat">
              <a:solidFill>
                <a:srgbClr val="C2410C"/>
              </a:solidFill>
              <a:custDash>
                <a:ds d="347222" sp="263888"/>
              </a:custDash>
              <a:miter/>
              <a:tailEnd type="triangle" w="med" len="med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9" name="e:e-iter 文字"/>
            <p:cNvSpPr txBox="1"/>
            <p:nvPr/>
          </p:nvSpPr>
          <p:spPr>
            <a:xfrm rot="16200000">
              <a:off x="-88772" y="1605280"/>
              <a:ext cx="36322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700">
                  <a:solidFill>
                    <a:srgbClr val="C2410C"/>
                  </a:solidFill>
                  <a:latin typeface="Helvetica Neue"/>
                  <a:ea typeface="Microsoft YaHei"/>
                </a:rPr>
                <a:t>iterate</a:t>
              </a:r>
            </a:p>
          </p:txBody>
        </p:sp>
      </p:grpSp>
      <p:grpSp>
        <p:nvGrpSpPr>
          <p:cNvPr id="75" name="n:task Task"/>
          <p:cNvGrpSpPr/>
          <p:nvPr/>
        </p:nvGrpSpPr>
        <p:grpSpPr>
          <a:xfrm>
            <a:off x="1906886" y="260877"/>
            <a:ext cx="1043507" cy="239137"/>
            <a:chOff x="330200" y="304800"/>
            <a:chExt cx="1219200" cy="279400"/>
          </a:xfrm>
        </p:grpSpPr>
        <p:sp>
          <p:nvSpPr>
            <p:cNvPr id="10" name="n:task 框"/>
            <p:cNvSpPr/>
            <p:nvPr/>
          </p:nvSpPr>
          <p:spPr>
            <a:xfrm>
              <a:off x="330200" y="3048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FFFFF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11" name="n:task 线"/>
            <p:cNvSpPr/>
            <p:nvPr/>
          </p:nvSpPr>
          <p:spPr>
            <a:xfrm>
              <a:off x="436562" y="392112"/>
              <a:ext cx="104775" cy="104775"/>
            </a:xfrm>
            <a:custGeom>
              <a:avLst/>
              <a:gdLst/>
              <a:ahLst/>
              <a:cxnLst/>
              <a:rect l="0" t="0" r="r" b="b"/>
              <a:pathLst>
                <a:path w="8250" h="8250" fill="none">
                  <a:moveTo>
                    <a:pt x="0" y="0"/>
                  </a:moveTo>
                  <a:lnTo>
                    <a:pt x="0" y="8250"/>
                  </a:lnTo>
                  <a:lnTo>
                    <a:pt x="8250" y="8250"/>
                  </a:ln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12" name="n:task 线"/>
            <p:cNvSpPr/>
            <p:nvPr/>
          </p:nvSpPr>
          <p:spPr>
            <a:xfrm>
              <a:off x="443547" y="407828"/>
              <a:ext cx="94297" cy="64611"/>
            </a:xfrm>
            <a:custGeom>
              <a:avLst/>
              <a:gdLst/>
              <a:ahLst/>
              <a:cxnLst/>
              <a:rect l="0" t="0" r="r" b="b"/>
              <a:pathLst>
                <a:path w="7425" h="5087" fill="none">
                  <a:moveTo>
                    <a:pt x="0" y="5088"/>
                  </a:moveTo>
                  <a:lnTo>
                    <a:pt x="1513" y="4400"/>
                  </a:lnTo>
                  <a:lnTo>
                    <a:pt x="2888" y="4881"/>
                  </a:lnTo>
                  <a:lnTo>
                    <a:pt x="4263" y="0"/>
                  </a:lnTo>
                  <a:lnTo>
                    <a:pt x="5363" y="4469"/>
                  </a:lnTo>
                  <a:lnTo>
                    <a:pt x="7425" y="3988"/>
                  </a:ln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13" name="n:task 圆"/>
            <p:cNvSpPr/>
            <p:nvPr/>
          </p:nvSpPr>
          <p:spPr>
            <a:xfrm>
              <a:off x="471491" y="381639"/>
              <a:ext cx="53417" cy="53417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14" name="n:task 文字"/>
            <p:cNvSpPr txBox="1"/>
            <p:nvPr/>
          </p:nvSpPr>
          <p:spPr>
            <a:xfrm>
              <a:off x="622300" y="346011"/>
              <a:ext cx="38100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 dirty="0">
                  <a:solidFill>
                    <a:srgbClr val="262626"/>
                  </a:solidFill>
                  <a:latin typeface="Helvetica Neue"/>
                  <a:ea typeface="Microsoft YaHei"/>
                </a:rPr>
                <a:t>Task</a:t>
              </a:r>
            </a:p>
          </p:txBody>
        </p:sp>
      </p:grpSp>
      <p:grpSp>
        <p:nvGrpSpPr>
          <p:cNvPr id="76" name="a:task-ex example: Task"/>
          <p:cNvGrpSpPr/>
          <p:nvPr/>
        </p:nvGrpSpPr>
        <p:grpSpPr>
          <a:xfrm>
            <a:off x="3037352" y="260877"/>
            <a:ext cx="1652220" cy="239137"/>
            <a:chOff x="1651000" y="304800"/>
            <a:chExt cx="1930400" cy="279400"/>
          </a:xfrm>
        </p:grpSpPr>
        <p:sp>
          <p:nvSpPr>
            <p:cNvPr id="15" name="a:task-ex 框"/>
            <p:cNvSpPr/>
            <p:nvPr/>
          </p:nvSpPr>
          <p:spPr>
            <a:xfrm>
              <a:off x="1651000" y="3048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600"/>
            </a:p>
          </p:txBody>
        </p:sp>
        <p:sp>
          <p:nvSpPr>
            <p:cNvPr id="16" name="a:task-ex 文字"/>
            <p:cNvSpPr txBox="1"/>
            <p:nvPr/>
          </p:nvSpPr>
          <p:spPr>
            <a:xfrm>
              <a:off x="1739900" y="359537"/>
              <a:ext cx="145923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dirty="0">
                  <a:solidFill>
                    <a:srgbClr val="262626"/>
                  </a:solidFill>
                  <a:latin typeface="Helvetica Neue"/>
                  <a:ea typeface="Microsoft YaHei"/>
                </a:rPr>
                <a:t>“Why did login failures spike at 10am?”</a:t>
              </a:r>
            </a:p>
          </p:txBody>
        </p:sp>
      </p:grpSp>
      <p:grpSp>
        <p:nvGrpSpPr>
          <p:cNvPr id="77" name="n:dsl DSL / Playbook"/>
          <p:cNvGrpSpPr/>
          <p:nvPr/>
        </p:nvGrpSpPr>
        <p:grpSpPr>
          <a:xfrm>
            <a:off x="1906886" y="597843"/>
            <a:ext cx="1043507" cy="239137"/>
            <a:chOff x="330200" y="698500"/>
            <a:chExt cx="1219200" cy="279400"/>
          </a:xfrm>
        </p:grpSpPr>
        <p:sp>
          <p:nvSpPr>
            <p:cNvPr id="17" name="n:dsl 框"/>
            <p:cNvSpPr/>
            <p:nvPr/>
          </p:nvSpPr>
          <p:spPr>
            <a:xfrm>
              <a:off x="330200" y="6985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18" name="n:dsl 框"/>
            <p:cNvSpPr/>
            <p:nvPr/>
          </p:nvSpPr>
          <p:spPr>
            <a:xfrm>
              <a:off x="432196" y="846931"/>
              <a:ext cx="113506" cy="43656"/>
            </a:xfrm>
            <a:prstGeom prst="roundRect">
              <a:avLst>
                <a:gd name="adj" fmla="val 12000"/>
              </a:avLst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19" name="n:dsl 框"/>
            <p:cNvSpPr/>
            <p:nvPr/>
          </p:nvSpPr>
          <p:spPr>
            <a:xfrm>
              <a:off x="449659" y="798909"/>
              <a:ext cx="78581" cy="48021"/>
            </a:xfrm>
            <a:prstGeom prst="roundRect">
              <a:avLst>
                <a:gd name="adj" fmla="val 10909"/>
              </a:avLst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20" name="n:dsl 线"/>
            <p:cNvSpPr/>
            <p:nvPr/>
          </p:nvSpPr>
          <p:spPr>
            <a:xfrm>
              <a:off x="462756" y="787558"/>
              <a:ext cx="52387" cy="11350"/>
            </a:xfrm>
            <a:custGeom>
              <a:avLst/>
              <a:gdLst/>
              <a:ahLst/>
              <a:cxnLst/>
              <a:rect l="0" t="0" r="r" b="b"/>
              <a:pathLst>
                <a:path w="4125" h="893" fill="none">
                  <a:moveTo>
                    <a:pt x="0" y="894"/>
                  </a:moveTo>
                  <a:lnTo>
                    <a:pt x="0" y="0"/>
                  </a:lnTo>
                  <a:lnTo>
                    <a:pt x="1375" y="0"/>
                  </a:lnTo>
                  <a:lnTo>
                    <a:pt x="1375" y="894"/>
                  </a:lnTo>
                  <a:moveTo>
                    <a:pt x="2750" y="894"/>
                  </a:moveTo>
                  <a:lnTo>
                    <a:pt x="2750" y="0"/>
                  </a:lnTo>
                  <a:lnTo>
                    <a:pt x="4125" y="0"/>
                  </a:lnTo>
                  <a:lnTo>
                    <a:pt x="4125" y="894"/>
                  </a:lnTo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21" name="n:dsl 文字"/>
            <p:cNvSpPr txBox="1"/>
            <p:nvPr/>
          </p:nvSpPr>
          <p:spPr>
            <a:xfrm>
              <a:off x="622300" y="739711"/>
              <a:ext cx="82550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>
                  <a:solidFill>
                    <a:srgbClr val="262626"/>
                  </a:solidFill>
                  <a:latin typeface="Helvetica Neue"/>
                  <a:ea typeface="Microsoft YaHei"/>
                </a:rPr>
                <a:t>DSL / Playbook</a:t>
              </a:r>
            </a:p>
          </p:txBody>
        </p:sp>
      </p:grpSp>
      <p:grpSp>
        <p:nvGrpSpPr>
          <p:cNvPr id="78" name="a:dsl-ex example: DSL / Playbook"/>
          <p:cNvGrpSpPr/>
          <p:nvPr/>
        </p:nvGrpSpPr>
        <p:grpSpPr>
          <a:xfrm>
            <a:off x="3037352" y="597843"/>
            <a:ext cx="1652220" cy="239137"/>
            <a:chOff x="1651000" y="698500"/>
            <a:chExt cx="1930400" cy="279400"/>
          </a:xfrm>
        </p:grpSpPr>
        <p:sp>
          <p:nvSpPr>
            <p:cNvPr id="22" name="a:dsl-ex 框"/>
            <p:cNvSpPr/>
            <p:nvPr/>
          </p:nvSpPr>
          <p:spPr>
            <a:xfrm>
              <a:off x="1651000" y="6985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23" name="a:dsl-ex 框"/>
            <p:cNvSpPr/>
            <p:nvPr/>
          </p:nvSpPr>
          <p:spPr>
            <a:xfrm>
              <a:off x="1739900" y="781050"/>
              <a:ext cx="65278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24" name="a:dsl-ex 文字"/>
            <p:cNvSpPr txBox="1"/>
            <p:nvPr/>
          </p:nvSpPr>
          <p:spPr>
            <a:xfrm>
              <a:off x="1701800" y="753236"/>
              <a:ext cx="72898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C2410C"/>
                  </a:solidFill>
                  <a:latin typeface="Helvetica Neue"/>
                  <a:ea typeface="Microsoft YaHei"/>
                </a:rPr>
                <a:t>find change point</a:t>
              </a:r>
            </a:p>
          </p:txBody>
        </p:sp>
        <p:sp>
          <p:nvSpPr>
            <p:cNvPr id="25" name="a:dsl-ex 框"/>
            <p:cNvSpPr/>
            <p:nvPr/>
          </p:nvSpPr>
          <p:spPr>
            <a:xfrm>
              <a:off x="2430780" y="781050"/>
              <a:ext cx="21971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26" name="a:dsl-ex 文字"/>
            <p:cNvSpPr txBox="1"/>
            <p:nvPr/>
          </p:nvSpPr>
          <p:spPr>
            <a:xfrm>
              <a:off x="2392680" y="753236"/>
              <a:ext cx="2959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C2410C"/>
                  </a:solidFill>
                  <a:latin typeface="Helvetica Neue"/>
                  <a:ea typeface="Microsoft YaHei"/>
                </a:rPr>
                <a:t>filter</a:t>
              </a:r>
            </a:p>
          </p:txBody>
        </p:sp>
        <p:sp>
          <p:nvSpPr>
            <p:cNvPr id="27" name="a:dsl-ex 框"/>
            <p:cNvSpPr/>
            <p:nvPr/>
          </p:nvSpPr>
          <p:spPr>
            <a:xfrm>
              <a:off x="2688590" y="781050"/>
              <a:ext cx="61087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28" name="a:dsl-ex 文字"/>
            <p:cNvSpPr txBox="1"/>
            <p:nvPr/>
          </p:nvSpPr>
          <p:spPr>
            <a:xfrm>
              <a:off x="2650490" y="753236"/>
              <a:ext cx="68707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C2410C"/>
                  </a:solidFill>
                  <a:latin typeface="Helvetica Neue"/>
                  <a:ea typeface="Microsoft YaHei"/>
                </a:rPr>
                <a:t>rank candidates</a:t>
              </a:r>
            </a:p>
          </p:txBody>
        </p:sp>
        <p:sp>
          <p:nvSpPr>
            <p:cNvPr id="29" name="a:dsl-ex 文字"/>
            <p:cNvSpPr txBox="1"/>
            <p:nvPr/>
          </p:nvSpPr>
          <p:spPr>
            <a:xfrm>
              <a:off x="3350260" y="753236"/>
              <a:ext cx="22860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514">
                  <a:solidFill>
                    <a:srgbClr val="C2410C"/>
                  </a:solidFill>
                  <a:latin typeface="Helvetica Neue"/>
                  <a:ea typeface="Microsoft YaHei"/>
                </a:rPr>
                <a:t>…</a:t>
              </a:r>
            </a:p>
          </p:txBody>
        </p:sp>
      </p:grpSp>
      <p:grpSp>
        <p:nvGrpSpPr>
          <p:cNvPr id="79" name="n:llm LLM"/>
          <p:cNvGrpSpPr/>
          <p:nvPr/>
        </p:nvGrpSpPr>
        <p:grpSpPr>
          <a:xfrm>
            <a:off x="1906886" y="934809"/>
            <a:ext cx="1043507" cy="239137"/>
            <a:chOff x="330200" y="1092200"/>
            <a:chExt cx="1219200" cy="279400"/>
          </a:xfrm>
        </p:grpSpPr>
        <p:sp>
          <p:nvSpPr>
            <p:cNvPr id="30" name="n:llm 框"/>
            <p:cNvSpPr/>
            <p:nvPr/>
          </p:nvSpPr>
          <p:spPr>
            <a:xfrm>
              <a:off x="330200" y="10922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E7E7E7"/>
            </a:solidFill>
            <a:ln w="9144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31" name="n:llm 线"/>
            <p:cNvSpPr/>
            <p:nvPr/>
          </p:nvSpPr>
          <p:spPr>
            <a:xfrm>
              <a:off x="433070" y="1173400"/>
              <a:ext cx="111759" cy="110886"/>
            </a:xfrm>
            <a:custGeom>
              <a:avLst/>
              <a:gdLst/>
              <a:ahLst/>
              <a:cxnLst/>
              <a:rect l="0" t="0" r="r" b="b"/>
              <a:pathLst>
                <a:path w="8799" h="8731">
                  <a:moveTo>
                    <a:pt x="4400" y="894"/>
                  </a:moveTo>
                  <a:cubicBezTo>
                    <a:pt x="3231" y="0"/>
                    <a:pt x="1375" y="481"/>
                    <a:pt x="1100" y="1925"/>
                  </a:cubicBezTo>
                  <a:cubicBezTo>
                    <a:pt x="137" y="2338"/>
                    <a:pt x="0" y="3713"/>
                    <a:pt x="825" y="4400"/>
                  </a:cubicBezTo>
                  <a:cubicBezTo>
                    <a:pt x="275" y="5431"/>
                    <a:pt x="962" y="6806"/>
                    <a:pt x="2200" y="7081"/>
                  </a:cubicBezTo>
                  <a:cubicBezTo>
                    <a:pt x="2475" y="8319"/>
                    <a:pt x="3919" y="8731"/>
                    <a:pt x="4400" y="7906"/>
                  </a:cubicBezTo>
                  <a:cubicBezTo>
                    <a:pt x="4881" y="8731"/>
                    <a:pt x="6325" y="8319"/>
                    <a:pt x="6600" y="7081"/>
                  </a:cubicBezTo>
                  <a:cubicBezTo>
                    <a:pt x="7837" y="6806"/>
                    <a:pt x="8525" y="5431"/>
                    <a:pt x="7975" y="4400"/>
                  </a:cubicBezTo>
                  <a:cubicBezTo>
                    <a:pt x="8800" y="3713"/>
                    <a:pt x="8663" y="2338"/>
                    <a:pt x="7700" y="1925"/>
                  </a:cubicBezTo>
                  <a:cubicBezTo>
                    <a:pt x="7425" y="481"/>
                    <a:pt x="5569" y="0"/>
                    <a:pt x="4400" y="894"/>
                  </a:cubicBezTo>
                  <a:close/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cxnSp>
          <p:nvCxnSpPr>
            <p:cNvPr id="32" name="n:llm 线"/>
            <p:cNvCxnSpPr/>
            <p:nvPr/>
          </p:nvCxnSpPr>
          <p:spPr>
            <a:xfrm>
              <a:off x="488950" y="1184751"/>
              <a:ext cx="0" cy="89059"/>
            </a:xfrm>
            <a:prstGeom prst="line">
              <a:avLst/>
            </a:prstGeom>
            <a:ln w="13843" cap="rnd">
              <a:solidFill>
                <a:srgbClr val="262626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n:llm 线"/>
            <p:cNvSpPr/>
            <p:nvPr/>
          </p:nvSpPr>
          <p:spPr>
            <a:xfrm>
              <a:off x="466248" y="1207452"/>
              <a:ext cx="11350" cy="20954"/>
            </a:xfrm>
            <a:custGeom>
              <a:avLst/>
              <a:gdLst/>
              <a:ahLst/>
              <a:cxnLst/>
              <a:rect l="0" t="0" r="r" b="b"/>
              <a:pathLst>
                <a:path w="893" h="1649" fill="none">
                  <a:moveTo>
                    <a:pt x="0" y="0"/>
                  </a:moveTo>
                  <a:cubicBezTo>
                    <a:pt x="894" y="275"/>
                    <a:pt x="894" y="1306"/>
                    <a:pt x="0" y="1650"/>
                  </a:cubicBez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34" name="n:llm 线"/>
            <p:cNvSpPr/>
            <p:nvPr/>
          </p:nvSpPr>
          <p:spPr>
            <a:xfrm>
              <a:off x="500300" y="1235392"/>
              <a:ext cx="11350" cy="20954"/>
            </a:xfrm>
            <a:custGeom>
              <a:avLst/>
              <a:gdLst/>
              <a:ahLst/>
              <a:cxnLst/>
              <a:rect l="0" t="0" r="r" b="b"/>
              <a:pathLst>
                <a:path w="893" h="1649" fill="none">
                  <a:moveTo>
                    <a:pt x="894" y="0"/>
                  </a:moveTo>
                  <a:cubicBezTo>
                    <a:pt x="0" y="275"/>
                    <a:pt x="0" y="1306"/>
                    <a:pt x="894" y="1650"/>
                  </a:cubicBezTo>
                </a:path>
              </a:pathLst>
            </a:custGeom>
            <a:noFill/>
            <a:ln w="13843" cap="rnd">
              <a:solidFill>
                <a:srgbClr val="262626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35" name="n:llm 文字"/>
            <p:cNvSpPr txBox="1"/>
            <p:nvPr/>
          </p:nvSpPr>
          <p:spPr>
            <a:xfrm>
              <a:off x="622300" y="1133411"/>
              <a:ext cx="36068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>
                  <a:solidFill>
                    <a:srgbClr val="262626"/>
                  </a:solidFill>
                  <a:latin typeface="Helvetica Neue"/>
                  <a:ea typeface="Microsoft YaHei"/>
                </a:rPr>
                <a:t>LLM</a:t>
              </a:r>
            </a:p>
          </p:txBody>
        </p:sp>
      </p:grpSp>
      <p:grpSp>
        <p:nvGrpSpPr>
          <p:cNvPr id="80" name="a:llm-ex example: LLM"/>
          <p:cNvGrpSpPr/>
          <p:nvPr/>
        </p:nvGrpSpPr>
        <p:grpSpPr>
          <a:xfrm>
            <a:off x="3037352" y="934809"/>
            <a:ext cx="1652220" cy="239137"/>
            <a:chOff x="1651000" y="1092200"/>
            <a:chExt cx="1930400" cy="279400"/>
          </a:xfrm>
        </p:grpSpPr>
        <p:sp>
          <p:nvSpPr>
            <p:cNvPr id="36" name="a:llm-ex 框"/>
            <p:cNvSpPr/>
            <p:nvPr/>
          </p:nvSpPr>
          <p:spPr>
            <a:xfrm>
              <a:off x="1651000" y="10922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600"/>
            </a:p>
          </p:txBody>
        </p:sp>
        <p:sp>
          <p:nvSpPr>
            <p:cNvPr id="37" name="a:llm-ex 文字"/>
            <p:cNvSpPr txBox="1"/>
            <p:nvPr/>
          </p:nvSpPr>
          <p:spPr>
            <a:xfrm>
              <a:off x="1739900" y="1146937"/>
              <a:ext cx="152400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dirty="0">
                  <a:solidFill>
                    <a:srgbClr val="262626"/>
                  </a:solidFill>
                  <a:latin typeface="Helvetica Neue"/>
                  <a:ea typeface="Microsoft YaHei"/>
                </a:rPr>
                <a:t>pick a playbook, or compose a new DAG</a:t>
              </a:r>
            </a:p>
          </p:txBody>
        </p:sp>
      </p:grpSp>
      <p:grpSp>
        <p:nvGrpSpPr>
          <p:cNvPr id="81" name="n:program DSL program"/>
          <p:cNvGrpSpPr/>
          <p:nvPr/>
        </p:nvGrpSpPr>
        <p:grpSpPr>
          <a:xfrm>
            <a:off x="1906886" y="1271775"/>
            <a:ext cx="1043507" cy="347836"/>
            <a:chOff x="330200" y="1485900"/>
            <a:chExt cx="1219200" cy="406400"/>
          </a:xfrm>
        </p:grpSpPr>
        <p:sp>
          <p:nvSpPr>
            <p:cNvPr id="38" name="n:program 框"/>
            <p:cNvSpPr/>
            <p:nvPr/>
          </p:nvSpPr>
          <p:spPr>
            <a:xfrm>
              <a:off x="330200" y="1485900"/>
              <a:ext cx="1219200" cy="406400"/>
            </a:xfrm>
            <a:prstGeom prst="roundRect">
              <a:avLst>
                <a:gd name="adj" fmla="val 4687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39" name="n:program 圆"/>
            <p:cNvSpPr/>
            <p:nvPr/>
          </p:nvSpPr>
          <p:spPr>
            <a:xfrm>
              <a:off x="471487" y="1631473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40" name="n:program 圆"/>
            <p:cNvSpPr/>
            <p:nvPr/>
          </p:nvSpPr>
          <p:spPr>
            <a:xfrm>
              <a:off x="431323" y="1710055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41" name="n:program 圆"/>
            <p:cNvSpPr/>
            <p:nvPr/>
          </p:nvSpPr>
          <p:spPr>
            <a:xfrm>
              <a:off x="511651" y="1710055"/>
              <a:ext cx="34925" cy="34925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42" name="n:program 线"/>
            <p:cNvSpPr/>
            <p:nvPr/>
          </p:nvSpPr>
          <p:spPr>
            <a:xfrm>
              <a:off x="457517" y="1664652"/>
              <a:ext cx="62865" cy="62865"/>
            </a:xfrm>
            <a:custGeom>
              <a:avLst/>
              <a:gdLst/>
              <a:ahLst/>
              <a:cxnLst/>
              <a:rect l="0" t="0" r="r" b="b"/>
              <a:pathLst>
                <a:path w="4950" h="4950" fill="none">
                  <a:moveTo>
                    <a:pt x="1788" y="0"/>
                  </a:moveTo>
                  <a:lnTo>
                    <a:pt x="0" y="3713"/>
                  </a:lnTo>
                  <a:moveTo>
                    <a:pt x="3163" y="0"/>
                  </a:moveTo>
                  <a:lnTo>
                    <a:pt x="4950" y="3713"/>
                  </a:lnTo>
                  <a:moveTo>
                    <a:pt x="688" y="4950"/>
                  </a:moveTo>
                  <a:lnTo>
                    <a:pt x="4263" y="4950"/>
                  </a:lnTo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43" name="n:program 文字"/>
            <p:cNvSpPr txBox="1"/>
            <p:nvPr/>
          </p:nvSpPr>
          <p:spPr>
            <a:xfrm>
              <a:off x="622300" y="1590611"/>
              <a:ext cx="741680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>
                  <a:solidFill>
                    <a:srgbClr val="262626"/>
                  </a:solidFill>
                  <a:latin typeface="Helvetica Neue"/>
                  <a:ea typeface="Microsoft YaHei"/>
                </a:rPr>
                <a:t>DSL program</a:t>
              </a:r>
            </a:p>
          </p:txBody>
        </p:sp>
      </p:grpSp>
      <p:grpSp>
        <p:nvGrpSpPr>
          <p:cNvPr id="82" name="a:program-ex example: DSL program"/>
          <p:cNvGrpSpPr/>
          <p:nvPr/>
        </p:nvGrpSpPr>
        <p:grpSpPr>
          <a:xfrm>
            <a:off x="3037352" y="1271775"/>
            <a:ext cx="1652220" cy="347836"/>
            <a:chOff x="1651000" y="1485900"/>
            <a:chExt cx="1930400" cy="406400"/>
          </a:xfrm>
        </p:grpSpPr>
        <p:sp>
          <p:nvSpPr>
            <p:cNvPr id="44" name="a:program-ex 框"/>
            <p:cNvSpPr/>
            <p:nvPr/>
          </p:nvSpPr>
          <p:spPr>
            <a:xfrm>
              <a:off x="1651000" y="1485900"/>
              <a:ext cx="1930400" cy="406400"/>
            </a:xfrm>
            <a:prstGeom prst="roundRect">
              <a:avLst>
                <a:gd name="adj" fmla="val 625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600"/>
            </a:p>
          </p:txBody>
        </p:sp>
        <p:sp>
          <p:nvSpPr>
            <p:cNvPr id="45" name="a:program-ex 文字"/>
            <p:cNvSpPr txBox="1"/>
            <p:nvPr/>
          </p:nvSpPr>
          <p:spPr>
            <a:xfrm>
              <a:off x="1739900" y="1501267"/>
              <a:ext cx="1042669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>
                  <a:solidFill>
                    <a:srgbClr val="262626"/>
                  </a:solidFill>
                  <a:latin typeface="Menlo"/>
                  <a:ea typeface="Microsoft YaHei"/>
                </a:rPr>
                <a:t>c = find_change_point(kpi)</a:t>
              </a:r>
            </a:p>
          </p:txBody>
        </p:sp>
        <p:sp>
          <p:nvSpPr>
            <p:cNvPr id="46" name="a:program-ex 文字"/>
            <p:cNvSpPr txBox="1"/>
            <p:nvPr/>
          </p:nvSpPr>
          <p:spPr>
            <a:xfrm>
              <a:off x="1739900" y="1602867"/>
              <a:ext cx="77724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>
                  <a:solidFill>
                    <a:srgbClr val="262626"/>
                  </a:solidFill>
                  <a:latin typeface="Menlo"/>
                  <a:ea typeface="Microsoft YaHei"/>
                </a:rPr>
                <a:t>f = filter(c, service)</a:t>
              </a:r>
            </a:p>
          </p:txBody>
        </p:sp>
        <p:sp>
          <p:nvSpPr>
            <p:cNvPr id="47" name="a:program-ex 文字"/>
            <p:cNvSpPr txBox="1"/>
            <p:nvPr/>
          </p:nvSpPr>
          <p:spPr>
            <a:xfrm>
              <a:off x="1739900" y="1704467"/>
              <a:ext cx="8928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>
                  <a:solidFill>
                    <a:srgbClr val="262626"/>
                  </a:solidFill>
                  <a:latin typeface="Menlo"/>
                  <a:ea typeface="Microsoft YaHei"/>
                </a:rPr>
                <a:t>r = rank_candidates(f)</a:t>
              </a:r>
            </a:p>
          </p:txBody>
        </p:sp>
      </p:grpSp>
      <p:grpSp>
        <p:nvGrpSpPr>
          <p:cNvPr id="83" name="n:runtime DSL runtime engine"/>
          <p:cNvGrpSpPr/>
          <p:nvPr/>
        </p:nvGrpSpPr>
        <p:grpSpPr>
          <a:xfrm>
            <a:off x="1906886" y="1717439"/>
            <a:ext cx="1120683" cy="239137"/>
            <a:chOff x="330200" y="2006600"/>
            <a:chExt cx="1309369" cy="279400"/>
          </a:xfrm>
        </p:grpSpPr>
        <p:sp>
          <p:nvSpPr>
            <p:cNvPr id="48" name="n:runtime 框"/>
            <p:cNvSpPr/>
            <p:nvPr/>
          </p:nvSpPr>
          <p:spPr>
            <a:xfrm>
              <a:off x="330200" y="2006600"/>
              <a:ext cx="1219200" cy="279400"/>
            </a:xfrm>
            <a:prstGeom prst="roundRect">
              <a:avLst>
                <a:gd name="adj" fmla="val 6818"/>
              </a:avLst>
            </a:prstGeom>
            <a:solidFill>
              <a:srgbClr val="FDEBDD"/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49" name="n:runtime 线"/>
            <p:cNvSpPr/>
            <p:nvPr/>
          </p:nvSpPr>
          <p:spPr>
            <a:xfrm>
              <a:off x="432284" y="2089634"/>
              <a:ext cx="113331" cy="113331"/>
            </a:xfrm>
            <a:custGeom>
              <a:avLst/>
              <a:gdLst/>
              <a:ahLst/>
              <a:cxnLst/>
              <a:rect l="0" t="0" r="r" b="b"/>
              <a:pathLst>
                <a:path w="8923" h="8923">
                  <a:moveTo>
                    <a:pt x="8924" y="3644"/>
                  </a:moveTo>
                  <a:lnTo>
                    <a:pt x="8924" y="5280"/>
                  </a:lnTo>
                  <a:lnTo>
                    <a:pt x="7542" y="5438"/>
                  </a:lnTo>
                  <a:lnTo>
                    <a:pt x="7329" y="5954"/>
                  </a:lnTo>
                  <a:lnTo>
                    <a:pt x="8195" y="7040"/>
                  </a:lnTo>
                  <a:lnTo>
                    <a:pt x="7040" y="8195"/>
                  </a:lnTo>
                  <a:lnTo>
                    <a:pt x="5954" y="7329"/>
                  </a:lnTo>
                  <a:lnTo>
                    <a:pt x="5438" y="7542"/>
                  </a:lnTo>
                  <a:lnTo>
                    <a:pt x="5280" y="8924"/>
                  </a:lnTo>
                  <a:lnTo>
                    <a:pt x="3644" y="8924"/>
                  </a:lnTo>
                  <a:lnTo>
                    <a:pt x="3486" y="7542"/>
                  </a:lnTo>
                  <a:lnTo>
                    <a:pt x="2970" y="7329"/>
                  </a:lnTo>
                  <a:lnTo>
                    <a:pt x="1884" y="8195"/>
                  </a:lnTo>
                  <a:lnTo>
                    <a:pt x="729" y="7040"/>
                  </a:lnTo>
                  <a:lnTo>
                    <a:pt x="1595" y="5954"/>
                  </a:lnTo>
                  <a:lnTo>
                    <a:pt x="1382" y="5438"/>
                  </a:lnTo>
                  <a:lnTo>
                    <a:pt x="0" y="5280"/>
                  </a:lnTo>
                  <a:lnTo>
                    <a:pt x="0" y="3644"/>
                  </a:lnTo>
                  <a:lnTo>
                    <a:pt x="1382" y="3486"/>
                  </a:lnTo>
                  <a:lnTo>
                    <a:pt x="1595" y="2970"/>
                  </a:lnTo>
                  <a:lnTo>
                    <a:pt x="729" y="1884"/>
                  </a:lnTo>
                  <a:lnTo>
                    <a:pt x="1884" y="729"/>
                  </a:lnTo>
                  <a:lnTo>
                    <a:pt x="2970" y="1595"/>
                  </a:lnTo>
                  <a:lnTo>
                    <a:pt x="3486" y="1382"/>
                  </a:lnTo>
                  <a:lnTo>
                    <a:pt x="3644" y="0"/>
                  </a:lnTo>
                  <a:lnTo>
                    <a:pt x="5280" y="0"/>
                  </a:lnTo>
                  <a:lnTo>
                    <a:pt x="5438" y="1382"/>
                  </a:lnTo>
                  <a:lnTo>
                    <a:pt x="5954" y="1595"/>
                  </a:lnTo>
                  <a:lnTo>
                    <a:pt x="7040" y="729"/>
                  </a:lnTo>
                  <a:lnTo>
                    <a:pt x="8195" y="1884"/>
                  </a:lnTo>
                  <a:lnTo>
                    <a:pt x="7329" y="2970"/>
                  </a:lnTo>
                  <a:lnTo>
                    <a:pt x="7542" y="3486"/>
                  </a:lnTo>
                  <a:close/>
                </a:path>
              </a:pathLst>
            </a:cu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00"/>
            </a:p>
          </p:txBody>
        </p:sp>
        <p:sp>
          <p:nvSpPr>
            <p:cNvPr id="50" name="n:runtime 圆"/>
            <p:cNvSpPr/>
            <p:nvPr/>
          </p:nvSpPr>
          <p:spPr>
            <a:xfrm>
              <a:off x="470614" y="2127964"/>
              <a:ext cx="36671" cy="36671"/>
            </a:xfrm>
            <a:prstGeom prst="ellipse">
              <a:avLst/>
            </a:prstGeom>
            <a:noFill/>
            <a:ln w="13843" cap="rnd">
              <a:solidFill>
                <a:srgbClr val="C2410C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51" name="n:runtime 文字"/>
            <p:cNvSpPr txBox="1"/>
            <p:nvPr/>
          </p:nvSpPr>
          <p:spPr>
            <a:xfrm>
              <a:off x="622300" y="2047811"/>
              <a:ext cx="1017269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lang="en-US" sz="700" b="1" dirty="0">
                  <a:solidFill>
                    <a:srgbClr val="262626"/>
                  </a:solidFill>
                  <a:latin typeface="Helvetica Neue"/>
                  <a:ea typeface="Microsoft YaHei"/>
                </a:rPr>
                <a:t>R</a:t>
              </a:r>
              <a:r>
                <a:rPr sz="700" b="1" dirty="0">
                  <a:solidFill>
                    <a:srgbClr val="262626"/>
                  </a:solidFill>
                  <a:latin typeface="Helvetica Neue"/>
                  <a:ea typeface="Microsoft YaHei"/>
                </a:rPr>
                <a:t>untime engine</a:t>
              </a:r>
            </a:p>
          </p:txBody>
        </p:sp>
      </p:grpSp>
      <p:grpSp>
        <p:nvGrpSpPr>
          <p:cNvPr id="84" name="a:runtime-ex example: DSL runtime eng"/>
          <p:cNvGrpSpPr/>
          <p:nvPr/>
        </p:nvGrpSpPr>
        <p:grpSpPr>
          <a:xfrm>
            <a:off x="3037352" y="1717439"/>
            <a:ext cx="1652220" cy="239137"/>
            <a:chOff x="1651000" y="2006600"/>
            <a:chExt cx="1930400" cy="279400"/>
          </a:xfrm>
        </p:grpSpPr>
        <p:sp>
          <p:nvSpPr>
            <p:cNvPr id="52" name="a:runtime-ex 框"/>
            <p:cNvSpPr/>
            <p:nvPr/>
          </p:nvSpPr>
          <p:spPr>
            <a:xfrm>
              <a:off x="1651000" y="2006600"/>
              <a:ext cx="1930400" cy="279400"/>
            </a:xfrm>
            <a:prstGeom prst="roundRect">
              <a:avLst>
                <a:gd name="adj" fmla="val 9090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53" name="a:runtime-ex 框"/>
            <p:cNvSpPr/>
            <p:nvPr/>
          </p:nvSpPr>
          <p:spPr>
            <a:xfrm>
              <a:off x="1739900" y="2089150"/>
              <a:ext cx="2286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54" name="a:runtime-ex 文字"/>
            <p:cNvSpPr txBox="1"/>
            <p:nvPr/>
          </p:nvSpPr>
          <p:spPr>
            <a:xfrm>
              <a:off x="1701800" y="2061337"/>
              <a:ext cx="30480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5A5A5A"/>
                  </a:solidFill>
                  <a:latin typeface="Helvetica Neue"/>
                  <a:ea typeface="Microsoft YaHei"/>
                </a:rPr>
                <a:t>SQL</a:t>
              </a:r>
            </a:p>
          </p:txBody>
        </p:sp>
        <p:sp>
          <p:nvSpPr>
            <p:cNvPr id="55" name="a:runtime-ex 框"/>
            <p:cNvSpPr/>
            <p:nvPr/>
          </p:nvSpPr>
          <p:spPr>
            <a:xfrm>
              <a:off x="2006600" y="2089150"/>
              <a:ext cx="36830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56" name="a:runtime-ex 文字"/>
            <p:cNvSpPr txBox="1"/>
            <p:nvPr/>
          </p:nvSpPr>
          <p:spPr>
            <a:xfrm>
              <a:off x="1968500" y="2061337"/>
              <a:ext cx="44450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5A5A5A"/>
                  </a:solidFill>
                  <a:latin typeface="Helvetica Neue"/>
                  <a:ea typeface="Microsoft YaHei"/>
                </a:rPr>
                <a:t>statistics</a:t>
              </a:r>
            </a:p>
          </p:txBody>
        </p:sp>
        <p:sp>
          <p:nvSpPr>
            <p:cNvPr id="57" name="a:runtime-ex 框"/>
            <p:cNvSpPr/>
            <p:nvPr/>
          </p:nvSpPr>
          <p:spPr>
            <a:xfrm>
              <a:off x="2413000" y="2089150"/>
              <a:ext cx="181610" cy="1143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58" name="a:runtime-ex 文字"/>
            <p:cNvSpPr txBox="1"/>
            <p:nvPr/>
          </p:nvSpPr>
          <p:spPr>
            <a:xfrm>
              <a:off x="2374900" y="2061337"/>
              <a:ext cx="2578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sz="514">
                  <a:solidFill>
                    <a:srgbClr val="5A5A5A"/>
                  </a:solidFill>
                  <a:latin typeface="Helvetica Neue"/>
                  <a:ea typeface="Microsoft YaHei"/>
                </a:rPr>
                <a:t>ML</a:t>
              </a:r>
            </a:p>
          </p:txBody>
        </p:sp>
      </p:grpSp>
      <p:grpSp>
        <p:nvGrpSpPr>
          <p:cNvPr id="85" name="n:answer Answer"/>
          <p:cNvGrpSpPr/>
          <p:nvPr/>
        </p:nvGrpSpPr>
        <p:grpSpPr>
          <a:xfrm>
            <a:off x="1906886" y="2054405"/>
            <a:ext cx="1043507" cy="369576"/>
            <a:chOff x="330200" y="2400300"/>
            <a:chExt cx="1219200" cy="431800"/>
          </a:xfrm>
        </p:grpSpPr>
        <p:sp>
          <p:nvSpPr>
            <p:cNvPr id="59" name="n:answer 框"/>
            <p:cNvSpPr/>
            <p:nvPr/>
          </p:nvSpPr>
          <p:spPr>
            <a:xfrm>
              <a:off x="330200" y="2400300"/>
              <a:ext cx="1219200" cy="431800"/>
            </a:xfrm>
            <a:prstGeom prst="roundRect">
              <a:avLst>
                <a:gd name="adj" fmla="val 4411"/>
              </a:avLst>
            </a:prstGeom>
            <a:solidFill>
              <a:srgbClr val="C2410C">
                <a:alpha val="70000"/>
              </a:srgbClr>
            </a:solidFill>
            <a:ln w="9144" cap="flat">
              <a:solidFill>
                <a:srgbClr val="C2410C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sp>
          <p:nvSpPr>
            <p:cNvPr id="60" name="n:answer 圆"/>
            <p:cNvSpPr/>
            <p:nvPr/>
          </p:nvSpPr>
          <p:spPr>
            <a:xfrm>
              <a:off x="438308" y="2565558"/>
              <a:ext cx="76835" cy="76835"/>
            </a:xfrm>
            <a:prstGeom prst="ellipse">
              <a:avLst/>
            </a:prstGeom>
            <a:noFill/>
            <a:ln w="13843" cap="rnd">
              <a:solidFill>
                <a:srgbClr val="FFFF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700"/>
            </a:p>
          </p:txBody>
        </p:sp>
        <p:cxnSp>
          <p:nvCxnSpPr>
            <p:cNvPr id="61" name="n:answer 线"/>
            <p:cNvCxnSpPr/>
            <p:nvPr/>
          </p:nvCxnSpPr>
          <p:spPr>
            <a:xfrm>
              <a:off x="504666" y="2631916"/>
              <a:ext cx="38417" cy="38417"/>
            </a:xfrm>
            <a:prstGeom prst="line">
              <a:avLst/>
            </a:prstGeom>
            <a:ln w="13843" cap="rnd">
              <a:solidFill>
                <a:srgbClr val="FFFFFF"/>
              </a:solidFill>
              <a:round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n:answer 文字"/>
            <p:cNvSpPr txBox="1"/>
            <p:nvPr/>
          </p:nvSpPr>
          <p:spPr>
            <a:xfrm>
              <a:off x="622300" y="2517711"/>
              <a:ext cx="499109" cy="19558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700" b="1">
                  <a:solidFill>
                    <a:srgbClr val="FFFFFF"/>
                  </a:solidFill>
                  <a:latin typeface="Helvetica Neue"/>
                  <a:ea typeface="Microsoft YaHei"/>
                </a:rPr>
                <a:t>Answer</a:t>
              </a:r>
            </a:p>
          </p:txBody>
        </p:sp>
      </p:grpSp>
      <p:grpSp>
        <p:nvGrpSpPr>
          <p:cNvPr id="86" name="a:answer-ex example: Answer"/>
          <p:cNvGrpSpPr/>
          <p:nvPr/>
        </p:nvGrpSpPr>
        <p:grpSpPr>
          <a:xfrm>
            <a:off x="3037352" y="2054405"/>
            <a:ext cx="1652220" cy="369576"/>
            <a:chOff x="1651000" y="2400300"/>
            <a:chExt cx="1930400" cy="431800"/>
          </a:xfrm>
        </p:grpSpPr>
        <p:sp>
          <p:nvSpPr>
            <p:cNvPr id="63" name="a:answer-ex 框"/>
            <p:cNvSpPr/>
            <p:nvPr/>
          </p:nvSpPr>
          <p:spPr>
            <a:xfrm>
              <a:off x="1651000" y="2400300"/>
              <a:ext cx="1930400" cy="431800"/>
            </a:xfrm>
            <a:prstGeom prst="roundRect">
              <a:avLst>
                <a:gd name="adj" fmla="val 5882"/>
              </a:avLst>
            </a:prstGeom>
            <a:solidFill>
              <a:srgbClr val="F4F4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64" name="a:answer-ex 线"/>
            <p:cNvSpPr/>
            <p:nvPr/>
          </p:nvSpPr>
          <p:spPr>
            <a:xfrm>
              <a:off x="1739900" y="2451100"/>
              <a:ext cx="584200" cy="317500"/>
            </a:xfrm>
            <a:custGeom>
              <a:avLst/>
              <a:gdLst/>
              <a:ahLst/>
              <a:cxnLst/>
              <a:rect l="0" t="0" r="r" b="b"/>
              <a:pathLst>
                <a:path w="46000" h="25000" fill="none">
                  <a:moveTo>
                    <a:pt x="0" y="0"/>
                  </a:moveTo>
                  <a:lnTo>
                    <a:pt x="0" y="25000"/>
                  </a:lnTo>
                  <a:lnTo>
                    <a:pt x="46000" y="25000"/>
                  </a:lnTo>
                </a:path>
              </a:pathLst>
            </a:custGeom>
            <a:noFill/>
            <a:ln w="7620" cap="flat">
              <a:solidFill>
                <a:srgbClr val="9A9A9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41"/>
            </a:p>
          </p:txBody>
        </p:sp>
        <p:sp>
          <p:nvSpPr>
            <p:cNvPr id="65" name="a:answer-ex 线"/>
            <p:cNvSpPr/>
            <p:nvPr/>
          </p:nvSpPr>
          <p:spPr>
            <a:xfrm>
              <a:off x="1765300" y="2491740"/>
              <a:ext cx="533400" cy="156210"/>
            </a:xfrm>
            <a:custGeom>
              <a:avLst/>
              <a:gdLst/>
              <a:ahLst/>
              <a:cxnLst/>
              <a:rect l="0" t="0" r="r" b="b"/>
              <a:pathLst>
                <a:path w="42000" h="12300" fill="none">
                  <a:moveTo>
                    <a:pt x="0" y="11400"/>
                  </a:moveTo>
                  <a:lnTo>
                    <a:pt x="4200" y="9900"/>
                  </a:lnTo>
                  <a:lnTo>
                    <a:pt x="8400" y="12300"/>
                  </a:lnTo>
                  <a:lnTo>
                    <a:pt x="12600" y="10600"/>
                  </a:lnTo>
                  <a:lnTo>
                    <a:pt x="16800" y="11900"/>
                  </a:lnTo>
                  <a:lnTo>
                    <a:pt x="21000" y="10100"/>
                  </a:lnTo>
                  <a:lnTo>
                    <a:pt x="25200" y="11400"/>
                  </a:lnTo>
                  <a:lnTo>
                    <a:pt x="29400" y="0"/>
                  </a:lnTo>
                  <a:lnTo>
                    <a:pt x="33600" y="11000"/>
                  </a:lnTo>
                  <a:lnTo>
                    <a:pt x="37800" y="9900"/>
                  </a:lnTo>
                  <a:lnTo>
                    <a:pt x="42000" y="11000"/>
                  </a:lnTo>
                </a:path>
              </a:pathLst>
            </a:custGeom>
            <a:noFill/>
            <a:ln w="7620" cap="flat">
              <a:solidFill>
                <a:srgbClr val="5A5A5A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541"/>
            </a:p>
          </p:txBody>
        </p:sp>
        <p:sp>
          <p:nvSpPr>
            <p:cNvPr id="66" name="a:answer-ex 圆"/>
            <p:cNvSpPr/>
            <p:nvPr/>
          </p:nvSpPr>
          <p:spPr>
            <a:xfrm>
              <a:off x="2119630" y="2472690"/>
              <a:ext cx="38100" cy="38100"/>
            </a:xfrm>
            <a:prstGeom prst="ellipse">
              <a:avLst/>
            </a:prstGeom>
            <a:solidFill>
              <a:srgbClr val="C241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67" name="a:answer-ex 文字"/>
            <p:cNvSpPr txBox="1"/>
            <p:nvPr/>
          </p:nvSpPr>
          <p:spPr>
            <a:xfrm>
              <a:off x="2438400" y="2428367"/>
              <a:ext cx="1943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514" b="1">
                  <a:solidFill>
                    <a:srgbClr val="C2410C"/>
                  </a:solidFill>
                  <a:latin typeface="Helvetica Neue"/>
                  <a:ea typeface="Microsoft YaHei"/>
                </a:rPr>
                <a:t>1</a:t>
              </a:r>
            </a:p>
          </p:txBody>
        </p:sp>
        <p:sp>
          <p:nvSpPr>
            <p:cNvPr id="68" name="a:answer-ex 文字"/>
            <p:cNvSpPr txBox="1"/>
            <p:nvPr/>
          </p:nvSpPr>
          <p:spPr>
            <a:xfrm>
              <a:off x="2514600" y="2428367"/>
              <a:ext cx="75438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600" dirty="0">
                  <a:solidFill>
                    <a:srgbClr val="262626"/>
                  </a:solidFill>
                  <a:latin typeface="Helvetica Neue"/>
                  <a:ea typeface="Microsoft YaHei"/>
                </a:rPr>
                <a:t>clients in region R</a:t>
              </a:r>
            </a:p>
          </p:txBody>
        </p:sp>
        <p:sp>
          <p:nvSpPr>
            <p:cNvPr id="69" name="a:answer-ex 文字"/>
            <p:cNvSpPr txBox="1"/>
            <p:nvPr/>
          </p:nvSpPr>
          <p:spPr>
            <a:xfrm>
              <a:off x="2438400" y="2555367"/>
              <a:ext cx="1943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514">
                  <a:solidFill>
                    <a:srgbClr val="5A5A5A"/>
                  </a:solidFill>
                  <a:latin typeface="Helvetica Neue"/>
                  <a:ea typeface="Microsoft YaHei"/>
                </a:rPr>
                <a:t>2</a:t>
              </a:r>
            </a:p>
          </p:txBody>
        </p:sp>
        <p:sp>
          <p:nvSpPr>
            <p:cNvPr id="70" name="a:answer-ex 框"/>
            <p:cNvSpPr/>
            <p:nvPr/>
          </p:nvSpPr>
          <p:spPr>
            <a:xfrm>
              <a:off x="2514600" y="2626360"/>
              <a:ext cx="558800" cy="30480"/>
            </a:xfrm>
            <a:prstGeom prst="roundRect">
              <a:avLst>
                <a:gd name="adj" fmla="val 50000"/>
              </a:avLst>
            </a:prstGeom>
            <a:solidFill>
              <a:srgbClr val="D4D4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  <p:sp>
          <p:nvSpPr>
            <p:cNvPr id="71" name="a:answer-ex 文字"/>
            <p:cNvSpPr txBox="1"/>
            <p:nvPr/>
          </p:nvSpPr>
          <p:spPr>
            <a:xfrm>
              <a:off x="2438400" y="2644267"/>
              <a:ext cx="194310" cy="1676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l"/>
              <a:r>
                <a:rPr sz="514">
                  <a:solidFill>
                    <a:srgbClr val="5A5A5A"/>
                  </a:solidFill>
                  <a:latin typeface="Helvetica Neue"/>
                  <a:ea typeface="Microsoft YaHei"/>
                </a:rPr>
                <a:t>3</a:t>
              </a:r>
            </a:p>
          </p:txBody>
        </p:sp>
        <p:sp>
          <p:nvSpPr>
            <p:cNvPr id="72" name="a:answer-ex 框"/>
            <p:cNvSpPr/>
            <p:nvPr/>
          </p:nvSpPr>
          <p:spPr>
            <a:xfrm>
              <a:off x="2514600" y="2715260"/>
              <a:ext cx="406400" cy="30480"/>
            </a:xfrm>
            <a:prstGeom prst="roundRect">
              <a:avLst>
                <a:gd name="adj" fmla="val 50000"/>
              </a:avLst>
            </a:prstGeom>
            <a:solidFill>
              <a:srgbClr val="D4D4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1541"/>
            </a:p>
          </p:txBody>
        </p:sp>
      </p:grpSp>
      <p:sp>
        <p:nvSpPr>
          <p:cNvPr id="73" name="a:title 文字"/>
          <p:cNvSpPr txBox="1"/>
          <p:nvPr/>
        </p:nvSpPr>
        <p:spPr>
          <a:xfrm>
            <a:off x="2023329" y="30924"/>
            <a:ext cx="2518549" cy="19131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900" b="1" dirty="0">
                <a:solidFill>
                  <a:srgbClr val="C2410C"/>
                </a:solidFill>
                <a:latin typeface="Helvetica Neue"/>
                <a:ea typeface="Microsoft YaHei"/>
              </a:rPr>
              <a:t>R</a:t>
            </a:r>
            <a:r>
              <a:rPr sz="900" b="1" dirty="0">
                <a:solidFill>
                  <a:srgbClr val="C2410C"/>
                </a:solidFill>
                <a:latin typeface="Helvetica Neue"/>
                <a:ea typeface="Microsoft YaHei"/>
              </a:rPr>
              <a:t>oot cause analysis via Constrained Creativity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178</Words>
  <Application>Microsoft Macintosh PowerPoint</Application>
  <PresentationFormat>Custom</PresentationFormat>
  <Paragraphs>72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Lesley Zhou</cp:lastModifiedBy>
  <cp:revision>31</cp:revision>
  <dcterms:created xsi:type="dcterms:W3CDTF">2013-01-27T09:14:16Z</dcterms:created>
  <dcterms:modified xsi:type="dcterms:W3CDTF">2026-10-07T16:21:19Z</dcterms:modified>
  <cp:category/>
</cp:coreProperties>
</file>