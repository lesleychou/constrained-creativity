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553200" cy="31051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 snapToObjects="1">
      <p:cViewPr varScale="1">
        <p:scale>
          <a:sx n="227" d="100"/>
          <a:sy n="227" d="100"/>
        </p:scale>
        <p:origin x="192" y="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(4) arbitrary analysis"/>
          <p:cNvSpPr/>
          <p:nvPr/>
        </p:nvSpPr>
        <p:spPr>
          <a:xfrm>
            <a:off x="533400" y="266700"/>
            <a:ext cx="5124450" cy="2162175"/>
          </a:xfrm>
          <a:prstGeom prst="rect">
            <a:avLst/>
          </a:prstGeom>
          <a:solidFill>
            <a:srgbClr val="9C9C9C"/>
          </a:solidFill>
          <a:ln w="9525">
            <a:solidFill>
              <a:srgbClr val="20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(3) flexible playbooks + operators, fixed DSL"/>
          <p:cNvSpPr/>
          <p:nvPr/>
        </p:nvSpPr>
        <p:spPr>
          <a:xfrm>
            <a:off x="533400" y="809625"/>
            <a:ext cx="4391025" cy="1619250"/>
          </a:xfrm>
          <a:prstGeom prst="rect">
            <a:avLst/>
          </a:prstGeom>
          <a:solidFill>
            <a:srgbClr val="C1C1C1"/>
          </a:solidFill>
          <a:ln w="9525">
            <a:solidFill>
              <a:srgbClr val="20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(2) flexible playbooks, fixed operators + DSL"/>
          <p:cNvSpPr/>
          <p:nvPr/>
        </p:nvSpPr>
        <p:spPr>
          <a:xfrm>
            <a:off x="533400" y="1343025"/>
            <a:ext cx="3657600" cy="1085850"/>
          </a:xfrm>
          <a:prstGeom prst="rect">
            <a:avLst/>
          </a:prstGeom>
          <a:solidFill>
            <a:srgbClr val="E2E2E2"/>
          </a:solidFill>
          <a:ln w="9525">
            <a:solidFill>
              <a:srgbClr val="20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(1) fixed playbooks"/>
          <p:cNvSpPr/>
          <p:nvPr/>
        </p:nvSpPr>
        <p:spPr>
          <a:xfrm>
            <a:off x="533400" y="1885950"/>
            <a:ext cx="2924175" cy="542925"/>
          </a:xfrm>
          <a:prstGeom prst="rect">
            <a:avLst/>
          </a:prstGeom>
          <a:solidFill>
            <a:srgbClr val="FFFFFF"/>
          </a:solidFill>
          <a:ln w="9525">
            <a:solidFill>
              <a:srgbClr val="203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abel (4) arbitrary analysis"/>
          <p:cNvSpPr txBox="1"/>
          <p:nvPr/>
        </p:nvSpPr>
        <p:spPr>
          <a:xfrm>
            <a:off x="3981450" y="371475"/>
            <a:ext cx="1666875" cy="2414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62">
                <a:solidFill>
                  <a:srgbClr val="000000"/>
                </a:solidFill>
                <a:latin typeface="Gill Sans"/>
              </a:rPr>
              <a:t>(4) arbitrary analysis</a:t>
            </a:r>
          </a:p>
        </p:txBody>
      </p:sp>
      <p:sp>
        <p:nvSpPr>
          <p:cNvPr id="7" name="label (3) flexible playbooks + operators,"/>
          <p:cNvSpPr txBox="1"/>
          <p:nvPr/>
        </p:nvSpPr>
        <p:spPr>
          <a:xfrm>
            <a:off x="2181225" y="857250"/>
            <a:ext cx="2771775" cy="2414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62">
                <a:solidFill>
                  <a:srgbClr val="000000"/>
                </a:solidFill>
                <a:latin typeface="Gill Sans"/>
              </a:rPr>
              <a:t>(3) flexible playbooks + operators,</a:t>
            </a:r>
          </a:p>
        </p:txBody>
      </p:sp>
      <p:sp>
        <p:nvSpPr>
          <p:cNvPr id="8" name="label fixed DSL"/>
          <p:cNvSpPr txBox="1"/>
          <p:nvPr/>
        </p:nvSpPr>
        <p:spPr>
          <a:xfrm>
            <a:off x="2428875" y="1076325"/>
            <a:ext cx="828675" cy="2414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62">
                <a:solidFill>
                  <a:srgbClr val="000000"/>
                </a:solidFill>
                <a:latin typeface="Gill Sans"/>
              </a:rPr>
              <a:t>fixed DSL</a:t>
            </a:r>
          </a:p>
        </p:txBody>
      </p:sp>
      <p:sp>
        <p:nvSpPr>
          <p:cNvPr id="9" name="label (2) flexible playbooks,"/>
          <p:cNvSpPr txBox="1"/>
          <p:nvPr/>
        </p:nvSpPr>
        <p:spPr>
          <a:xfrm>
            <a:off x="1390650" y="1409700"/>
            <a:ext cx="1762125" cy="2414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62">
                <a:solidFill>
                  <a:srgbClr val="000000"/>
                </a:solidFill>
                <a:latin typeface="Gill Sans"/>
              </a:rPr>
              <a:t>(2) flexible playbooks,</a:t>
            </a:r>
          </a:p>
        </p:txBody>
      </p:sp>
      <p:sp>
        <p:nvSpPr>
          <p:cNvPr id="10" name="label fixed operators + DSL"/>
          <p:cNvSpPr txBox="1"/>
          <p:nvPr/>
        </p:nvSpPr>
        <p:spPr>
          <a:xfrm>
            <a:off x="1638300" y="1638300"/>
            <a:ext cx="1838325" cy="2414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62">
                <a:solidFill>
                  <a:srgbClr val="000000"/>
                </a:solidFill>
                <a:latin typeface="Gill Sans"/>
              </a:rPr>
              <a:t>fixed operators + DSL</a:t>
            </a:r>
          </a:p>
        </p:txBody>
      </p:sp>
      <p:sp>
        <p:nvSpPr>
          <p:cNvPr id="11" name="label (1) fixed playbooks"/>
          <p:cNvSpPr txBox="1"/>
          <p:nvPr/>
        </p:nvSpPr>
        <p:spPr>
          <a:xfrm>
            <a:off x="685800" y="2057400"/>
            <a:ext cx="1552575" cy="2414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62">
                <a:solidFill>
                  <a:srgbClr val="000000"/>
                </a:solidFill>
                <a:latin typeface="Gill Sans"/>
              </a:rPr>
              <a:t>(1) fixed playbooks</a:t>
            </a:r>
          </a:p>
        </p:txBody>
      </p:sp>
      <p:sp>
        <p:nvSpPr>
          <p:cNvPr id="12" name="axis left"/>
          <p:cNvSpPr txBox="1"/>
          <p:nvPr/>
        </p:nvSpPr>
        <p:spPr>
          <a:xfrm>
            <a:off x="666750" y="2762250"/>
            <a:ext cx="1543050" cy="27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650">
                <a:solidFill>
                  <a:srgbClr val="000000"/>
                </a:solidFill>
                <a:latin typeface="Gill Sans"/>
              </a:rPr>
              <a:t>more explainable</a:t>
            </a:r>
          </a:p>
        </p:txBody>
      </p:sp>
      <p:sp>
        <p:nvSpPr>
          <p:cNvPr id="13" name="axis right"/>
          <p:cNvSpPr txBox="1"/>
          <p:nvPr/>
        </p:nvSpPr>
        <p:spPr>
          <a:xfrm>
            <a:off x="4076700" y="2752725"/>
            <a:ext cx="1504950" cy="27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650">
                <a:solidFill>
                  <a:srgbClr val="000000"/>
                </a:solidFill>
                <a:latin typeface="Gill Sans"/>
              </a:rPr>
              <a:t>more expressive</a:t>
            </a:r>
          </a:p>
        </p:txBody>
      </p:sp>
      <p:cxnSp>
        <p:nvCxnSpPr>
          <p:cNvPr id="14" name="axis arrow"/>
          <p:cNvCxnSpPr/>
          <p:nvPr/>
        </p:nvCxnSpPr>
        <p:spPr>
          <a:xfrm>
            <a:off x="523875" y="2628900"/>
            <a:ext cx="514350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</Words>
  <Application>Microsoft Macintosh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Gill Sans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Lesley Zhou</cp:lastModifiedBy>
  <cp:revision>1</cp:revision>
  <dcterms:created xsi:type="dcterms:W3CDTF">2013-01-27T09:14:16Z</dcterms:created>
  <dcterms:modified xsi:type="dcterms:W3CDTF">2026-10-07T16:29:56Z</dcterms:modified>
  <cp:category/>
</cp:coreProperties>
</file>