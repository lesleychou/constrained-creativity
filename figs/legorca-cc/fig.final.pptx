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683000" cy="2908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 snapToObjects="1">
      <p:cViewPr varScale="1">
        <p:scale>
          <a:sx n="254" d="100"/>
          <a:sy n="254" d="100"/>
        </p:scale>
        <p:origin x="19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框"/>
          <p:cNvSpPr/>
          <p:nvPr/>
        </p:nvSpPr>
        <p:spPr>
          <a:xfrm>
            <a:off x="0" y="0"/>
            <a:ext cx="3683000" cy="290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cxnSp>
        <p:nvCxnSpPr>
          <p:cNvPr id="3" name="e:e-task-dsl 线"/>
          <p:cNvCxnSpPr/>
          <p:nvPr/>
        </p:nvCxnSpPr>
        <p:spPr>
          <a:xfrm>
            <a:off x="939800" y="584200"/>
            <a:ext cx="0" cy="11430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:e-dsl-llm 线"/>
          <p:cNvCxnSpPr/>
          <p:nvPr/>
        </p:nvCxnSpPr>
        <p:spPr>
          <a:xfrm>
            <a:off x="939800" y="977900"/>
            <a:ext cx="0" cy="11430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:e-llm-program 线"/>
          <p:cNvCxnSpPr/>
          <p:nvPr/>
        </p:nvCxnSpPr>
        <p:spPr>
          <a:xfrm>
            <a:off x="939800" y="1371600"/>
            <a:ext cx="0" cy="11430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:e-program-runtime 线"/>
          <p:cNvCxnSpPr/>
          <p:nvPr/>
        </p:nvCxnSpPr>
        <p:spPr>
          <a:xfrm>
            <a:off x="939800" y="1892300"/>
            <a:ext cx="0" cy="11430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:e-runtime-answer 线"/>
          <p:cNvCxnSpPr/>
          <p:nvPr/>
        </p:nvCxnSpPr>
        <p:spPr>
          <a:xfrm>
            <a:off x="939800" y="2286000"/>
            <a:ext cx="0" cy="11430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e:e-iter runtime→llm"/>
          <p:cNvGrpSpPr/>
          <p:nvPr/>
        </p:nvGrpSpPr>
        <p:grpSpPr>
          <a:xfrm>
            <a:off x="-88772" y="1231900"/>
            <a:ext cx="418972" cy="914400"/>
            <a:chOff x="-88772" y="1231900"/>
            <a:chExt cx="418972" cy="914400"/>
          </a:xfrm>
        </p:grpSpPr>
        <p:sp>
          <p:nvSpPr>
            <p:cNvPr id="8" name="e:e-iter 线"/>
            <p:cNvSpPr/>
            <p:nvPr/>
          </p:nvSpPr>
          <p:spPr>
            <a:xfrm>
              <a:off x="165100" y="1231900"/>
              <a:ext cx="165100" cy="914400"/>
            </a:xfrm>
            <a:custGeom>
              <a:avLst/>
              <a:gdLst/>
              <a:ahLst/>
              <a:cxnLst/>
              <a:rect l="0" t="0" r="r" b="b"/>
              <a:pathLst>
                <a:path w="13000" h="72000" fill="none">
                  <a:moveTo>
                    <a:pt x="13000" y="72000"/>
                  </a:moveTo>
                  <a:lnTo>
                    <a:pt x="0" y="72000"/>
                  </a:lnTo>
                  <a:lnTo>
                    <a:pt x="0" y="0"/>
                  </a:lnTo>
                  <a:lnTo>
                    <a:pt x="13000" y="0"/>
                  </a:lnTo>
                </a:path>
              </a:pathLst>
            </a:custGeom>
            <a:noFill/>
            <a:ln w="9144" cap="flat">
              <a:solidFill>
                <a:srgbClr val="C2410C"/>
              </a:solidFill>
              <a:custDash>
                <a:ds d="347222" sp="263888"/>
              </a:custDash>
              <a:miter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e:e-iter 文字"/>
            <p:cNvSpPr txBox="1"/>
            <p:nvPr/>
          </p:nvSpPr>
          <p:spPr>
            <a:xfrm rot="16200000">
              <a:off x="-88772" y="1605280"/>
              <a:ext cx="36322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C2410C"/>
                  </a:solidFill>
                  <a:latin typeface="Helvetica Neue"/>
                  <a:ea typeface="Microsoft YaHei"/>
                </a:rPr>
                <a:t>iterate</a:t>
              </a:r>
            </a:p>
          </p:txBody>
        </p:sp>
      </p:grpSp>
      <p:grpSp>
        <p:nvGrpSpPr>
          <p:cNvPr id="75" name="n:task Task"/>
          <p:cNvGrpSpPr/>
          <p:nvPr/>
        </p:nvGrpSpPr>
        <p:grpSpPr>
          <a:xfrm>
            <a:off x="330200" y="304800"/>
            <a:ext cx="1219200" cy="279400"/>
            <a:chOff x="330200" y="304800"/>
            <a:chExt cx="1219200" cy="279400"/>
          </a:xfrm>
        </p:grpSpPr>
        <p:sp>
          <p:nvSpPr>
            <p:cNvPr id="10" name="n:task 框"/>
            <p:cNvSpPr/>
            <p:nvPr/>
          </p:nvSpPr>
          <p:spPr>
            <a:xfrm>
              <a:off x="330200" y="3048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" name="n:task 线"/>
            <p:cNvSpPr/>
            <p:nvPr/>
          </p:nvSpPr>
          <p:spPr>
            <a:xfrm>
              <a:off x="436562" y="392112"/>
              <a:ext cx="104775" cy="104775"/>
            </a:xfrm>
            <a:custGeom>
              <a:avLst/>
              <a:gdLst/>
              <a:ahLst/>
              <a:cxnLst/>
              <a:rect l="0" t="0" r="r" b="b"/>
              <a:pathLst>
                <a:path w="8250" h="8250" fill="none">
                  <a:moveTo>
                    <a:pt x="0" y="0"/>
                  </a:moveTo>
                  <a:lnTo>
                    <a:pt x="0" y="8250"/>
                  </a:lnTo>
                  <a:lnTo>
                    <a:pt x="8250" y="8250"/>
                  </a:ln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n:task 线"/>
            <p:cNvSpPr/>
            <p:nvPr/>
          </p:nvSpPr>
          <p:spPr>
            <a:xfrm>
              <a:off x="443547" y="407828"/>
              <a:ext cx="94297" cy="64611"/>
            </a:xfrm>
            <a:custGeom>
              <a:avLst/>
              <a:gdLst/>
              <a:ahLst/>
              <a:cxnLst/>
              <a:rect l="0" t="0" r="r" b="b"/>
              <a:pathLst>
                <a:path w="7425" h="5087" fill="none">
                  <a:moveTo>
                    <a:pt x="0" y="5088"/>
                  </a:moveTo>
                  <a:lnTo>
                    <a:pt x="1513" y="4400"/>
                  </a:lnTo>
                  <a:lnTo>
                    <a:pt x="2888" y="4881"/>
                  </a:lnTo>
                  <a:lnTo>
                    <a:pt x="4263" y="0"/>
                  </a:lnTo>
                  <a:lnTo>
                    <a:pt x="5363" y="4469"/>
                  </a:lnTo>
                  <a:lnTo>
                    <a:pt x="7425" y="3988"/>
                  </a:ln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n:task 圆"/>
            <p:cNvSpPr/>
            <p:nvPr/>
          </p:nvSpPr>
          <p:spPr>
            <a:xfrm>
              <a:off x="486330" y="396478"/>
              <a:ext cx="22701" cy="22701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4" name="n:task 文字"/>
            <p:cNvSpPr txBox="1"/>
            <p:nvPr/>
          </p:nvSpPr>
          <p:spPr>
            <a:xfrm>
              <a:off x="622300" y="346011"/>
              <a:ext cx="38100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262626"/>
                  </a:solidFill>
                  <a:latin typeface="Helvetica Neue"/>
                  <a:ea typeface="Microsoft YaHei"/>
                </a:rPr>
                <a:t>Task</a:t>
              </a:r>
            </a:p>
          </p:txBody>
        </p:sp>
      </p:grpSp>
      <p:grpSp>
        <p:nvGrpSpPr>
          <p:cNvPr id="76" name="a:task-ex example: Task"/>
          <p:cNvGrpSpPr/>
          <p:nvPr/>
        </p:nvGrpSpPr>
        <p:grpSpPr>
          <a:xfrm>
            <a:off x="1651000" y="304800"/>
            <a:ext cx="1930400" cy="279400"/>
            <a:chOff x="1651000" y="304800"/>
            <a:chExt cx="1930400" cy="279400"/>
          </a:xfrm>
        </p:grpSpPr>
        <p:sp>
          <p:nvSpPr>
            <p:cNvPr id="15" name="a:task-ex 框"/>
            <p:cNvSpPr/>
            <p:nvPr/>
          </p:nvSpPr>
          <p:spPr>
            <a:xfrm>
              <a:off x="1651000" y="3048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6" name="a:task-ex 文字"/>
            <p:cNvSpPr txBox="1"/>
            <p:nvPr/>
          </p:nvSpPr>
          <p:spPr>
            <a:xfrm>
              <a:off x="1739900" y="359537"/>
              <a:ext cx="145923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“Why did login failures spike at 10am?”</a:t>
              </a:r>
            </a:p>
          </p:txBody>
        </p:sp>
      </p:grpSp>
      <p:grpSp>
        <p:nvGrpSpPr>
          <p:cNvPr id="77" name="n:dsl DSL / Playbook"/>
          <p:cNvGrpSpPr/>
          <p:nvPr/>
        </p:nvGrpSpPr>
        <p:grpSpPr>
          <a:xfrm>
            <a:off x="330200" y="698500"/>
            <a:ext cx="1219200" cy="279400"/>
            <a:chOff x="330200" y="698500"/>
            <a:chExt cx="1219200" cy="279400"/>
          </a:xfrm>
        </p:grpSpPr>
        <p:sp>
          <p:nvSpPr>
            <p:cNvPr id="17" name="n:dsl 框"/>
            <p:cNvSpPr/>
            <p:nvPr/>
          </p:nvSpPr>
          <p:spPr>
            <a:xfrm>
              <a:off x="330200" y="6985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8" name="n:dsl 框"/>
            <p:cNvSpPr/>
            <p:nvPr/>
          </p:nvSpPr>
          <p:spPr>
            <a:xfrm>
              <a:off x="432196" y="846931"/>
              <a:ext cx="113506" cy="43656"/>
            </a:xfrm>
            <a:prstGeom prst="roundRect">
              <a:avLst>
                <a:gd name="adj" fmla="val 12000"/>
              </a:avLst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n:dsl 框"/>
            <p:cNvSpPr/>
            <p:nvPr/>
          </p:nvSpPr>
          <p:spPr>
            <a:xfrm>
              <a:off x="449659" y="798909"/>
              <a:ext cx="78581" cy="48021"/>
            </a:xfrm>
            <a:prstGeom prst="roundRect">
              <a:avLst>
                <a:gd name="adj" fmla="val 10909"/>
              </a:avLst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0" name="n:dsl 线"/>
            <p:cNvSpPr/>
            <p:nvPr/>
          </p:nvSpPr>
          <p:spPr>
            <a:xfrm>
              <a:off x="462756" y="787558"/>
              <a:ext cx="52387" cy="11350"/>
            </a:xfrm>
            <a:custGeom>
              <a:avLst/>
              <a:gdLst/>
              <a:ahLst/>
              <a:cxnLst/>
              <a:rect l="0" t="0" r="r" b="b"/>
              <a:pathLst>
                <a:path w="4125" h="893" fill="none">
                  <a:moveTo>
                    <a:pt x="0" y="894"/>
                  </a:moveTo>
                  <a:lnTo>
                    <a:pt x="0" y="0"/>
                  </a:lnTo>
                  <a:lnTo>
                    <a:pt x="1375" y="0"/>
                  </a:lnTo>
                  <a:lnTo>
                    <a:pt x="1375" y="894"/>
                  </a:lnTo>
                  <a:moveTo>
                    <a:pt x="2750" y="894"/>
                  </a:moveTo>
                  <a:lnTo>
                    <a:pt x="2750" y="0"/>
                  </a:lnTo>
                  <a:lnTo>
                    <a:pt x="4125" y="0"/>
                  </a:lnTo>
                  <a:lnTo>
                    <a:pt x="4125" y="894"/>
                  </a:lnTo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n:dsl 文字"/>
            <p:cNvSpPr txBox="1"/>
            <p:nvPr/>
          </p:nvSpPr>
          <p:spPr>
            <a:xfrm>
              <a:off x="622300" y="739711"/>
              <a:ext cx="82550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262626"/>
                  </a:solidFill>
                  <a:latin typeface="Helvetica Neue"/>
                  <a:ea typeface="Microsoft YaHei"/>
                </a:rPr>
                <a:t>DSL / Playbook</a:t>
              </a:r>
            </a:p>
          </p:txBody>
        </p:sp>
      </p:grpSp>
      <p:grpSp>
        <p:nvGrpSpPr>
          <p:cNvPr id="78" name="a:dsl-ex example: DSL / Playbook"/>
          <p:cNvGrpSpPr/>
          <p:nvPr/>
        </p:nvGrpSpPr>
        <p:grpSpPr>
          <a:xfrm>
            <a:off x="1651000" y="698500"/>
            <a:ext cx="1930400" cy="279400"/>
            <a:chOff x="1651000" y="698500"/>
            <a:chExt cx="1930400" cy="279400"/>
          </a:xfrm>
        </p:grpSpPr>
        <p:sp>
          <p:nvSpPr>
            <p:cNvPr id="22" name="a:dsl-ex 框"/>
            <p:cNvSpPr/>
            <p:nvPr/>
          </p:nvSpPr>
          <p:spPr>
            <a:xfrm>
              <a:off x="1651000" y="6985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3" name="a:dsl-ex 框"/>
            <p:cNvSpPr/>
            <p:nvPr/>
          </p:nvSpPr>
          <p:spPr>
            <a:xfrm>
              <a:off x="1739900" y="781050"/>
              <a:ext cx="65278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4" name="a:dsl-ex 文字"/>
            <p:cNvSpPr txBox="1"/>
            <p:nvPr/>
          </p:nvSpPr>
          <p:spPr>
            <a:xfrm>
              <a:off x="1701800" y="753236"/>
              <a:ext cx="72898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C2410C"/>
                  </a:solidFill>
                  <a:latin typeface="Helvetica Neue"/>
                  <a:ea typeface="Microsoft YaHei"/>
                </a:rPr>
                <a:t>find change point</a:t>
              </a:r>
            </a:p>
          </p:txBody>
        </p:sp>
        <p:sp>
          <p:nvSpPr>
            <p:cNvPr id="25" name="a:dsl-ex 框"/>
            <p:cNvSpPr/>
            <p:nvPr/>
          </p:nvSpPr>
          <p:spPr>
            <a:xfrm>
              <a:off x="2430780" y="781050"/>
              <a:ext cx="21971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6" name="a:dsl-ex 文字"/>
            <p:cNvSpPr txBox="1"/>
            <p:nvPr/>
          </p:nvSpPr>
          <p:spPr>
            <a:xfrm>
              <a:off x="2392680" y="753236"/>
              <a:ext cx="2959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C2410C"/>
                  </a:solidFill>
                  <a:latin typeface="Helvetica Neue"/>
                  <a:ea typeface="Microsoft YaHei"/>
                </a:rPr>
                <a:t>filter</a:t>
              </a:r>
            </a:p>
          </p:txBody>
        </p:sp>
        <p:sp>
          <p:nvSpPr>
            <p:cNvPr id="27" name="a:dsl-ex 框"/>
            <p:cNvSpPr/>
            <p:nvPr/>
          </p:nvSpPr>
          <p:spPr>
            <a:xfrm>
              <a:off x="2688590" y="781050"/>
              <a:ext cx="61087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8" name="a:dsl-ex 文字"/>
            <p:cNvSpPr txBox="1"/>
            <p:nvPr/>
          </p:nvSpPr>
          <p:spPr>
            <a:xfrm>
              <a:off x="2650490" y="753236"/>
              <a:ext cx="68707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C2410C"/>
                  </a:solidFill>
                  <a:latin typeface="Helvetica Neue"/>
                  <a:ea typeface="Microsoft YaHei"/>
                </a:rPr>
                <a:t>rank candidates</a:t>
              </a:r>
            </a:p>
          </p:txBody>
        </p:sp>
        <p:sp>
          <p:nvSpPr>
            <p:cNvPr id="29" name="a:dsl-ex 文字"/>
            <p:cNvSpPr txBox="1"/>
            <p:nvPr/>
          </p:nvSpPr>
          <p:spPr>
            <a:xfrm>
              <a:off x="3350260" y="753236"/>
              <a:ext cx="22860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C2410C"/>
                  </a:solidFill>
                  <a:latin typeface="Helvetica Neue"/>
                  <a:ea typeface="Microsoft YaHei"/>
                </a:rPr>
                <a:t>…</a:t>
              </a:r>
            </a:p>
          </p:txBody>
        </p:sp>
      </p:grpSp>
      <p:grpSp>
        <p:nvGrpSpPr>
          <p:cNvPr id="79" name="n:llm LLM"/>
          <p:cNvGrpSpPr/>
          <p:nvPr/>
        </p:nvGrpSpPr>
        <p:grpSpPr>
          <a:xfrm>
            <a:off x="330200" y="1092200"/>
            <a:ext cx="1219200" cy="279400"/>
            <a:chOff x="330200" y="1092200"/>
            <a:chExt cx="1219200" cy="279400"/>
          </a:xfrm>
        </p:grpSpPr>
        <p:sp>
          <p:nvSpPr>
            <p:cNvPr id="30" name="n:llm 框"/>
            <p:cNvSpPr/>
            <p:nvPr/>
          </p:nvSpPr>
          <p:spPr>
            <a:xfrm>
              <a:off x="330200" y="10922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E7E7E7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1" name="n:llm 线"/>
            <p:cNvSpPr/>
            <p:nvPr/>
          </p:nvSpPr>
          <p:spPr>
            <a:xfrm>
              <a:off x="433070" y="1173400"/>
              <a:ext cx="111759" cy="110886"/>
            </a:xfrm>
            <a:custGeom>
              <a:avLst/>
              <a:gdLst/>
              <a:ahLst/>
              <a:cxnLst/>
              <a:rect l="0" t="0" r="r" b="b"/>
              <a:pathLst>
                <a:path w="8799" h="8731">
                  <a:moveTo>
                    <a:pt x="4400" y="894"/>
                  </a:moveTo>
                  <a:cubicBezTo>
                    <a:pt x="3231" y="0"/>
                    <a:pt x="1375" y="481"/>
                    <a:pt x="1100" y="1925"/>
                  </a:cubicBezTo>
                  <a:cubicBezTo>
                    <a:pt x="137" y="2338"/>
                    <a:pt x="0" y="3713"/>
                    <a:pt x="825" y="4400"/>
                  </a:cubicBezTo>
                  <a:cubicBezTo>
                    <a:pt x="275" y="5431"/>
                    <a:pt x="962" y="6806"/>
                    <a:pt x="2200" y="7081"/>
                  </a:cubicBezTo>
                  <a:cubicBezTo>
                    <a:pt x="2475" y="8319"/>
                    <a:pt x="3919" y="8731"/>
                    <a:pt x="4400" y="7906"/>
                  </a:cubicBezTo>
                  <a:cubicBezTo>
                    <a:pt x="4881" y="8731"/>
                    <a:pt x="6325" y="8319"/>
                    <a:pt x="6600" y="7081"/>
                  </a:cubicBezTo>
                  <a:cubicBezTo>
                    <a:pt x="7837" y="6806"/>
                    <a:pt x="8525" y="5431"/>
                    <a:pt x="7975" y="4400"/>
                  </a:cubicBezTo>
                  <a:cubicBezTo>
                    <a:pt x="8800" y="3713"/>
                    <a:pt x="8663" y="2338"/>
                    <a:pt x="7700" y="1925"/>
                  </a:cubicBezTo>
                  <a:cubicBezTo>
                    <a:pt x="7425" y="481"/>
                    <a:pt x="5569" y="0"/>
                    <a:pt x="4400" y="894"/>
                  </a:cubicBezTo>
                  <a:close/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2" name="n:llm 线"/>
            <p:cNvCxnSpPr/>
            <p:nvPr/>
          </p:nvCxnSpPr>
          <p:spPr>
            <a:xfrm>
              <a:off x="488950" y="1184751"/>
              <a:ext cx="0" cy="89059"/>
            </a:xfrm>
            <a:prstGeom prst="line">
              <a:avLst/>
            </a:prstGeom>
            <a:ln w="13843" cap="rnd">
              <a:solidFill>
                <a:srgbClr val="262626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n:llm 线"/>
            <p:cNvSpPr/>
            <p:nvPr/>
          </p:nvSpPr>
          <p:spPr>
            <a:xfrm>
              <a:off x="466248" y="1207452"/>
              <a:ext cx="11350" cy="20954"/>
            </a:xfrm>
            <a:custGeom>
              <a:avLst/>
              <a:gdLst/>
              <a:ahLst/>
              <a:cxnLst/>
              <a:rect l="0" t="0" r="r" b="b"/>
              <a:pathLst>
                <a:path w="893" h="1649" fill="none">
                  <a:moveTo>
                    <a:pt x="0" y="0"/>
                  </a:moveTo>
                  <a:cubicBezTo>
                    <a:pt x="894" y="275"/>
                    <a:pt x="894" y="1306"/>
                    <a:pt x="0" y="1650"/>
                  </a:cubicBez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n:llm 线"/>
            <p:cNvSpPr/>
            <p:nvPr/>
          </p:nvSpPr>
          <p:spPr>
            <a:xfrm>
              <a:off x="500300" y="1235392"/>
              <a:ext cx="11350" cy="20954"/>
            </a:xfrm>
            <a:custGeom>
              <a:avLst/>
              <a:gdLst/>
              <a:ahLst/>
              <a:cxnLst/>
              <a:rect l="0" t="0" r="r" b="b"/>
              <a:pathLst>
                <a:path w="893" h="1649" fill="none">
                  <a:moveTo>
                    <a:pt x="894" y="0"/>
                  </a:moveTo>
                  <a:cubicBezTo>
                    <a:pt x="0" y="275"/>
                    <a:pt x="0" y="1306"/>
                    <a:pt x="894" y="1650"/>
                  </a:cubicBez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n:llm 文字"/>
            <p:cNvSpPr txBox="1"/>
            <p:nvPr/>
          </p:nvSpPr>
          <p:spPr>
            <a:xfrm>
              <a:off x="622300" y="1133411"/>
              <a:ext cx="36068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262626"/>
                  </a:solidFill>
                  <a:latin typeface="Helvetica Neue"/>
                  <a:ea typeface="Microsoft YaHei"/>
                </a:rPr>
                <a:t>LLM</a:t>
              </a:r>
            </a:p>
          </p:txBody>
        </p:sp>
      </p:grpSp>
      <p:grpSp>
        <p:nvGrpSpPr>
          <p:cNvPr id="80" name="a:llm-ex example: LLM"/>
          <p:cNvGrpSpPr/>
          <p:nvPr/>
        </p:nvGrpSpPr>
        <p:grpSpPr>
          <a:xfrm>
            <a:off x="1651000" y="1092200"/>
            <a:ext cx="1930400" cy="279400"/>
            <a:chOff x="1651000" y="1092200"/>
            <a:chExt cx="1930400" cy="279400"/>
          </a:xfrm>
        </p:grpSpPr>
        <p:sp>
          <p:nvSpPr>
            <p:cNvPr id="36" name="a:llm-ex 框"/>
            <p:cNvSpPr/>
            <p:nvPr/>
          </p:nvSpPr>
          <p:spPr>
            <a:xfrm>
              <a:off x="1651000" y="10922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7" name="a:llm-ex 文字"/>
            <p:cNvSpPr txBox="1"/>
            <p:nvPr/>
          </p:nvSpPr>
          <p:spPr>
            <a:xfrm>
              <a:off x="1739900" y="1146937"/>
              <a:ext cx="152400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pick a playbook, or compose a new DAG</a:t>
              </a:r>
            </a:p>
          </p:txBody>
        </p:sp>
      </p:grpSp>
      <p:grpSp>
        <p:nvGrpSpPr>
          <p:cNvPr id="81" name="n:program DSL program"/>
          <p:cNvGrpSpPr/>
          <p:nvPr/>
        </p:nvGrpSpPr>
        <p:grpSpPr>
          <a:xfrm>
            <a:off x="330200" y="1485900"/>
            <a:ext cx="1219200" cy="406400"/>
            <a:chOff x="330200" y="1485900"/>
            <a:chExt cx="1219200" cy="406400"/>
          </a:xfrm>
        </p:grpSpPr>
        <p:sp>
          <p:nvSpPr>
            <p:cNvPr id="38" name="n:program 框"/>
            <p:cNvSpPr/>
            <p:nvPr/>
          </p:nvSpPr>
          <p:spPr>
            <a:xfrm>
              <a:off x="330200" y="1485900"/>
              <a:ext cx="1219200" cy="406400"/>
            </a:xfrm>
            <a:prstGeom prst="roundRect">
              <a:avLst>
                <a:gd name="adj" fmla="val 4687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9" name="n:program 圆"/>
            <p:cNvSpPr/>
            <p:nvPr/>
          </p:nvSpPr>
          <p:spPr>
            <a:xfrm>
              <a:off x="471487" y="1631473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0" name="n:program 圆"/>
            <p:cNvSpPr/>
            <p:nvPr/>
          </p:nvSpPr>
          <p:spPr>
            <a:xfrm>
              <a:off x="431323" y="1710055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1" name="n:program 圆"/>
            <p:cNvSpPr/>
            <p:nvPr/>
          </p:nvSpPr>
          <p:spPr>
            <a:xfrm>
              <a:off x="511651" y="1710055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2" name="n:program 线"/>
            <p:cNvSpPr/>
            <p:nvPr/>
          </p:nvSpPr>
          <p:spPr>
            <a:xfrm>
              <a:off x="457517" y="1664652"/>
              <a:ext cx="62865" cy="62865"/>
            </a:xfrm>
            <a:custGeom>
              <a:avLst/>
              <a:gdLst/>
              <a:ahLst/>
              <a:cxnLst/>
              <a:rect l="0" t="0" r="r" b="b"/>
              <a:pathLst>
                <a:path w="4950" h="4950" fill="none">
                  <a:moveTo>
                    <a:pt x="1788" y="0"/>
                  </a:moveTo>
                  <a:lnTo>
                    <a:pt x="0" y="3713"/>
                  </a:lnTo>
                  <a:moveTo>
                    <a:pt x="3163" y="0"/>
                  </a:moveTo>
                  <a:lnTo>
                    <a:pt x="4950" y="3713"/>
                  </a:lnTo>
                  <a:moveTo>
                    <a:pt x="688" y="4950"/>
                  </a:moveTo>
                  <a:lnTo>
                    <a:pt x="4263" y="4950"/>
                  </a:lnTo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n:program 文字"/>
            <p:cNvSpPr txBox="1"/>
            <p:nvPr/>
          </p:nvSpPr>
          <p:spPr>
            <a:xfrm>
              <a:off x="622300" y="1590611"/>
              <a:ext cx="74168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262626"/>
                  </a:solidFill>
                  <a:latin typeface="Helvetica Neue"/>
                  <a:ea typeface="Microsoft YaHei"/>
                </a:rPr>
                <a:t>DSL program</a:t>
              </a:r>
            </a:p>
          </p:txBody>
        </p:sp>
      </p:grpSp>
      <p:grpSp>
        <p:nvGrpSpPr>
          <p:cNvPr id="82" name="a:program-ex example: DSL program"/>
          <p:cNvGrpSpPr/>
          <p:nvPr/>
        </p:nvGrpSpPr>
        <p:grpSpPr>
          <a:xfrm>
            <a:off x="1651000" y="1485900"/>
            <a:ext cx="1930400" cy="406400"/>
            <a:chOff x="1651000" y="1485900"/>
            <a:chExt cx="1930400" cy="406400"/>
          </a:xfrm>
        </p:grpSpPr>
        <p:sp>
          <p:nvSpPr>
            <p:cNvPr id="44" name="a:program-ex 框"/>
            <p:cNvSpPr/>
            <p:nvPr/>
          </p:nvSpPr>
          <p:spPr>
            <a:xfrm>
              <a:off x="1651000" y="1485900"/>
              <a:ext cx="1930400" cy="406400"/>
            </a:xfrm>
            <a:prstGeom prst="roundRect">
              <a:avLst>
                <a:gd name="adj" fmla="val 625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5" name="a:program-ex 文字"/>
            <p:cNvSpPr txBox="1"/>
            <p:nvPr/>
          </p:nvSpPr>
          <p:spPr>
            <a:xfrm>
              <a:off x="1739900" y="1501267"/>
              <a:ext cx="1042669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262626"/>
                  </a:solidFill>
                  <a:latin typeface="Menlo"/>
                  <a:ea typeface="Microsoft YaHei"/>
                </a:rPr>
                <a:t>c = find_change_point(kpi)</a:t>
              </a:r>
            </a:p>
          </p:txBody>
        </p:sp>
        <p:sp>
          <p:nvSpPr>
            <p:cNvPr id="46" name="a:program-ex 文字"/>
            <p:cNvSpPr txBox="1"/>
            <p:nvPr/>
          </p:nvSpPr>
          <p:spPr>
            <a:xfrm>
              <a:off x="1739900" y="1602867"/>
              <a:ext cx="7772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262626"/>
                  </a:solidFill>
                  <a:latin typeface="Menlo"/>
                  <a:ea typeface="Microsoft YaHei"/>
                </a:rPr>
                <a:t>f = filter(c, service)</a:t>
              </a:r>
            </a:p>
          </p:txBody>
        </p:sp>
        <p:sp>
          <p:nvSpPr>
            <p:cNvPr id="47" name="a:program-ex 文字"/>
            <p:cNvSpPr txBox="1"/>
            <p:nvPr/>
          </p:nvSpPr>
          <p:spPr>
            <a:xfrm>
              <a:off x="1739900" y="1704467"/>
              <a:ext cx="8928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262626"/>
                  </a:solidFill>
                  <a:latin typeface="Menlo"/>
                  <a:ea typeface="Microsoft YaHei"/>
                </a:rPr>
                <a:t>r = rank_candidates(f)</a:t>
              </a:r>
            </a:p>
          </p:txBody>
        </p:sp>
      </p:grpSp>
      <p:grpSp>
        <p:nvGrpSpPr>
          <p:cNvPr id="83" name="n:runtime DSL runtime engine"/>
          <p:cNvGrpSpPr/>
          <p:nvPr/>
        </p:nvGrpSpPr>
        <p:grpSpPr>
          <a:xfrm>
            <a:off x="330200" y="2006600"/>
            <a:ext cx="1309369" cy="279400"/>
            <a:chOff x="330200" y="2006600"/>
            <a:chExt cx="1309369" cy="279400"/>
          </a:xfrm>
        </p:grpSpPr>
        <p:sp>
          <p:nvSpPr>
            <p:cNvPr id="48" name="n:runtime 框"/>
            <p:cNvSpPr/>
            <p:nvPr/>
          </p:nvSpPr>
          <p:spPr>
            <a:xfrm>
              <a:off x="330200" y="20066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9" name="n:runtime 线"/>
            <p:cNvSpPr/>
            <p:nvPr/>
          </p:nvSpPr>
          <p:spPr>
            <a:xfrm>
              <a:off x="432284" y="2089634"/>
              <a:ext cx="113331" cy="113331"/>
            </a:xfrm>
            <a:custGeom>
              <a:avLst/>
              <a:gdLst/>
              <a:ahLst/>
              <a:cxnLst/>
              <a:rect l="0" t="0" r="r" b="b"/>
              <a:pathLst>
                <a:path w="8923" h="8923">
                  <a:moveTo>
                    <a:pt x="8924" y="3644"/>
                  </a:moveTo>
                  <a:lnTo>
                    <a:pt x="8924" y="5280"/>
                  </a:lnTo>
                  <a:lnTo>
                    <a:pt x="7542" y="5438"/>
                  </a:lnTo>
                  <a:lnTo>
                    <a:pt x="7329" y="5954"/>
                  </a:lnTo>
                  <a:lnTo>
                    <a:pt x="8195" y="7040"/>
                  </a:lnTo>
                  <a:lnTo>
                    <a:pt x="7040" y="8195"/>
                  </a:lnTo>
                  <a:lnTo>
                    <a:pt x="5954" y="7329"/>
                  </a:lnTo>
                  <a:lnTo>
                    <a:pt x="5438" y="7542"/>
                  </a:lnTo>
                  <a:lnTo>
                    <a:pt x="5280" y="8924"/>
                  </a:lnTo>
                  <a:lnTo>
                    <a:pt x="3644" y="8924"/>
                  </a:lnTo>
                  <a:lnTo>
                    <a:pt x="3486" y="7542"/>
                  </a:lnTo>
                  <a:lnTo>
                    <a:pt x="2970" y="7329"/>
                  </a:lnTo>
                  <a:lnTo>
                    <a:pt x="1884" y="8195"/>
                  </a:lnTo>
                  <a:lnTo>
                    <a:pt x="729" y="7040"/>
                  </a:lnTo>
                  <a:lnTo>
                    <a:pt x="1595" y="5954"/>
                  </a:lnTo>
                  <a:lnTo>
                    <a:pt x="1382" y="5438"/>
                  </a:lnTo>
                  <a:lnTo>
                    <a:pt x="0" y="5280"/>
                  </a:lnTo>
                  <a:lnTo>
                    <a:pt x="0" y="3644"/>
                  </a:lnTo>
                  <a:lnTo>
                    <a:pt x="1382" y="3486"/>
                  </a:lnTo>
                  <a:lnTo>
                    <a:pt x="1595" y="2970"/>
                  </a:lnTo>
                  <a:lnTo>
                    <a:pt x="729" y="1884"/>
                  </a:lnTo>
                  <a:lnTo>
                    <a:pt x="1884" y="729"/>
                  </a:lnTo>
                  <a:lnTo>
                    <a:pt x="2970" y="1595"/>
                  </a:lnTo>
                  <a:lnTo>
                    <a:pt x="3486" y="1382"/>
                  </a:lnTo>
                  <a:lnTo>
                    <a:pt x="3644" y="0"/>
                  </a:lnTo>
                  <a:lnTo>
                    <a:pt x="5280" y="0"/>
                  </a:lnTo>
                  <a:lnTo>
                    <a:pt x="5438" y="1382"/>
                  </a:lnTo>
                  <a:lnTo>
                    <a:pt x="5954" y="1595"/>
                  </a:lnTo>
                  <a:lnTo>
                    <a:pt x="7040" y="729"/>
                  </a:lnTo>
                  <a:lnTo>
                    <a:pt x="8195" y="1884"/>
                  </a:lnTo>
                  <a:lnTo>
                    <a:pt x="7329" y="2970"/>
                  </a:lnTo>
                  <a:lnTo>
                    <a:pt x="7542" y="3486"/>
                  </a:lnTo>
                  <a:close/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n:runtime 圆"/>
            <p:cNvSpPr/>
            <p:nvPr/>
          </p:nvSpPr>
          <p:spPr>
            <a:xfrm>
              <a:off x="470614" y="2127964"/>
              <a:ext cx="36671" cy="36671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1" name="n:runtime 文字"/>
            <p:cNvSpPr txBox="1"/>
            <p:nvPr/>
          </p:nvSpPr>
          <p:spPr>
            <a:xfrm>
              <a:off x="622300" y="2047811"/>
              <a:ext cx="1017269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262626"/>
                  </a:solidFill>
                  <a:latin typeface="Helvetica Neue"/>
                  <a:ea typeface="Microsoft YaHei"/>
                </a:rPr>
                <a:t>DSL runtime engine</a:t>
              </a:r>
            </a:p>
          </p:txBody>
        </p:sp>
      </p:grpSp>
      <p:grpSp>
        <p:nvGrpSpPr>
          <p:cNvPr id="84" name="a:runtime-ex example: DSL runtime eng"/>
          <p:cNvGrpSpPr/>
          <p:nvPr/>
        </p:nvGrpSpPr>
        <p:grpSpPr>
          <a:xfrm>
            <a:off x="1651000" y="2006600"/>
            <a:ext cx="1930400" cy="279400"/>
            <a:chOff x="1651000" y="2006600"/>
            <a:chExt cx="1930400" cy="279400"/>
          </a:xfrm>
        </p:grpSpPr>
        <p:sp>
          <p:nvSpPr>
            <p:cNvPr id="52" name="a:runtime-ex 框"/>
            <p:cNvSpPr/>
            <p:nvPr/>
          </p:nvSpPr>
          <p:spPr>
            <a:xfrm>
              <a:off x="1651000" y="20066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3" name="a:runtime-ex 框"/>
            <p:cNvSpPr/>
            <p:nvPr/>
          </p:nvSpPr>
          <p:spPr>
            <a:xfrm>
              <a:off x="1739900" y="2089150"/>
              <a:ext cx="2286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4" name="a:runtime-ex 文字"/>
            <p:cNvSpPr txBox="1"/>
            <p:nvPr/>
          </p:nvSpPr>
          <p:spPr>
            <a:xfrm>
              <a:off x="1701800" y="2061337"/>
              <a:ext cx="30480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5A5A5A"/>
                  </a:solidFill>
                  <a:latin typeface="Helvetica Neue"/>
                  <a:ea typeface="Microsoft YaHei"/>
                </a:rPr>
                <a:t>SQL</a:t>
              </a:r>
            </a:p>
          </p:txBody>
        </p:sp>
        <p:sp>
          <p:nvSpPr>
            <p:cNvPr id="55" name="a:runtime-ex 框"/>
            <p:cNvSpPr/>
            <p:nvPr/>
          </p:nvSpPr>
          <p:spPr>
            <a:xfrm>
              <a:off x="2006600" y="2089150"/>
              <a:ext cx="3683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6" name="a:runtime-ex 文字"/>
            <p:cNvSpPr txBox="1"/>
            <p:nvPr/>
          </p:nvSpPr>
          <p:spPr>
            <a:xfrm>
              <a:off x="1968500" y="2061337"/>
              <a:ext cx="44450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5A5A5A"/>
                  </a:solidFill>
                  <a:latin typeface="Helvetica Neue"/>
                  <a:ea typeface="Microsoft YaHei"/>
                </a:rPr>
                <a:t>statistics</a:t>
              </a:r>
            </a:p>
          </p:txBody>
        </p:sp>
        <p:sp>
          <p:nvSpPr>
            <p:cNvPr id="57" name="a:runtime-ex 框"/>
            <p:cNvSpPr/>
            <p:nvPr/>
          </p:nvSpPr>
          <p:spPr>
            <a:xfrm>
              <a:off x="2413000" y="2089150"/>
              <a:ext cx="18161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8" name="a:runtime-ex 文字"/>
            <p:cNvSpPr txBox="1"/>
            <p:nvPr/>
          </p:nvSpPr>
          <p:spPr>
            <a:xfrm>
              <a:off x="2374900" y="2061337"/>
              <a:ext cx="2578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5A5A5A"/>
                  </a:solidFill>
                  <a:latin typeface="Helvetica Neue"/>
                  <a:ea typeface="Microsoft YaHei"/>
                </a:rPr>
                <a:t>ML</a:t>
              </a:r>
            </a:p>
          </p:txBody>
        </p:sp>
      </p:grpSp>
      <p:grpSp>
        <p:nvGrpSpPr>
          <p:cNvPr id="85" name="n:answer Answer"/>
          <p:cNvGrpSpPr/>
          <p:nvPr/>
        </p:nvGrpSpPr>
        <p:grpSpPr>
          <a:xfrm>
            <a:off x="330200" y="2400300"/>
            <a:ext cx="1219200" cy="431800"/>
            <a:chOff x="330200" y="2400300"/>
            <a:chExt cx="1219200" cy="431800"/>
          </a:xfrm>
        </p:grpSpPr>
        <p:sp>
          <p:nvSpPr>
            <p:cNvPr id="59" name="n:answer 框"/>
            <p:cNvSpPr/>
            <p:nvPr/>
          </p:nvSpPr>
          <p:spPr>
            <a:xfrm>
              <a:off x="330200" y="2400300"/>
              <a:ext cx="1219200" cy="431800"/>
            </a:xfrm>
            <a:prstGeom prst="roundRect">
              <a:avLst>
                <a:gd name="adj" fmla="val 4411"/>
              </a:avLst>
            </a:prstGeom>
            <a:solidFill>
              <a:srgbClr val="C2410C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0" name="n:answer 圆"/>
            <p:cNvSpPr/>
            <p:nvPr/>
          </p:nvSpPr>
          <p:spPr>
            <a:xfrm>
              <a:off x="438308" y="2565558"/>
              <a:ext cx="76835" cy="76835"/>
            </a:xfrm>
            <a:prstGeom prst="ellipse">
              <a:avLst/>
            </a:prstGeom>
            <a:noFill/>
            <a:ln w="13843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cxnSp>
          <p:nvCxnSpPr>
            <p:cNvPr id="61" name="n:answer 线"/>
            <p:cNvCxnSpPr/>
            <p:nvPr/>
          </p:nvCxnSpPr>
          <p:spPr>
            <a:xfrm>
              <a:off x="504666" y="2631916"/>
              <a:ext cx="38417" cy="38417"/>
            </a:xfrm>
            <a:prstGeom prst="line">
              <a:avLst/>
            </a:prstGeom>
            <a:ln w="13843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n:answer 文字"/>
            <p:cNvSpPr txBox="1"/>
            <p:nvPr/>
          </p:nvSpPr>
          <p:spPr>
            <a:xfrm>
              <a:off x="622300" y="2517711"/>
              <a:ext cx="499109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i="0">
                  <a:solidFill>
                    <a:srgbClr val="FFFFFF"/>
                  </a:solidFill>
                  <a:latin typeface="Helvetica Neue"/>
                  <a:ea typeface="Microsoft YaHei"/>
                </a:rPr>
                <a:t>Answer</a:t>
              </a:r>
            </a:p>
          </p:txBody>
        </p:sp>
      </p:grpSp>
      <p:grpSp>
        <p:nvGrpSpPr>
          <p:cNvPr id="86" name="a:answer-ex example: Answer"/>
          <p:cNvGrpSpPr/>
          <p:nvPr/>
        </p:nvGrpSpPr>
        <p:grpSpPr>
          <a:xfrm>
            <a:off x="1651000" y="2400300"/>
            <a:ext cx="1930400" cy="431800"/>
            <a:chOff x="1651000" y="2400300"/>
            <a:chExt cx="1930400" cy="431800"/>
          </a:xfrm>
        </p:grpSpPr>
        <p:sp>
          <p:nvSpPr>
            <p:cNvPr id="63" name="a:answer-ex 框"/>
            <p:cNvSpPr/>
            <p:nvPr/>
          </p:nvSpPr>
          <p:spPr>
            <a:xfrm>
              <a:off x="1651000" y="2400300"/>
              <a:ext cx="1930400" cy="431800"/>
            </a:xfrm>
            <a:prstGeom prst="roundRect">
              <a:avLst>
                <a:gd name="adj" fmla="val 5882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4" name="a:answer-ex 线"/>
            <p:cNvSpPr/>
            <p:nvPr/>
          </p:nvSpPr>
          <p:spPr>
            <a:xfrm>
              <a:off x="1739900" y="2451100"/>
              <a:ext cx="584200" cy="317500"/>
            </a:xfrm>
            <a:custGeom>
              <a:avLst/>
              <a:gdLst/>
              <a:ahLst/>
              <a:cxnLst/>
              <a:rect l="0" t="0" r="r" b="b"/>
              <a:pathLst>
                <a:path w="46000" h="25000" fill="none">
                  <a:moveTo>
                    <a:pt x="0" y="0"/>
                  </a:moveTo>
                  <a:lnTo>
                    <a:pt x="0" y="25000"/>
                  </a:lnTo>
                  <a:lnTo>
                    <a:pt x="46000" y="25000"/>
                  </a:lnTo>
                </a:path>
              </a:pathLst>
            </a:custGeom>
            <a:noFill/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a:answer-ex 线"/>
            <p:cNvSpPr/>
            <p:nvPr/>
          </p:nvSpPr>
          <p:spPr>
            <a:xfrm>
              <a:off x="1765300" y="2491740"/>
              <a:ext cx="533400" cy="156210"/>
            </a:xfrm>
            <a:custGeom>
              <a:avLst/>
              <a:gdLst/>
              <a:ahLst/>
              <a:cxnLst/>
              <a:rect l="0" t="0" r="r" b="b"/>
              <a:pathLst>
                <a:path w="42000" h="12300" fill="none">
                  <a:moveTo>
                    <a:pt x="0" y="11400"/>
                  </a:moveTo>
                  <a:lnTo>
                    <a:pt x="4200" y="9900"/>
                  </a:lnTo>
                  <a:lnTo>
                    <a:pt x="8400" y="12300"/>
                  </a:lnTo>
                  <a:lnTo>
                    <a:pt x="12600" y="10600"/>
                  </a:lnTo>
                  <a:lnTo>
                    <a:pt x="16800" y="11900"/>
                  </a:lnTo>
                  <a:lnTo>
                    <a:pt x="21000" y="10100"/>
                  </a:lnTo>
                  <a:lnTo>
                    <a:pt x="25200" y="11400"/>
                  </a:lnTo>
                  <a:lnTo>
                    <a:pt x="29400" y="0"/>
                  </a:lnTo>
                  <a:lnTo>
                    <a:pt x="33600" y="11000"/>
                  </a:lnTo>
                  <a:lnTo>
                    <a:pt x="37800" y="9900"/>
                  </a:lnTo>
                  <a:lnTo>
                    <a:pt x="42000" y="11000"/>
                  </a:lnTo>
                </a:path>
              </a:pathLst>
            </a:custGeom>
            <a:noFill/>
            <a:ln w="7620" cap="flat">
              <a:solidFill>
                <a:srgbClr val="5A5A5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a:answer-ex 圆"/>
            <p:cNvSpPr/>
            <p:nvPr/>
          </p:nvSpPr>
          <p:spPr>
            <a:xfrm>
              <a:off x="2119630" y="2472690"/>
              <a:ext cx="38100" cy="381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7" name="a:answer-ex 文字"/>
            <p:cNvSpPr txBox="1"/>
            <p:nvPr/>
          </p:nvSpPr>
          <p:spPr>
            <a:xfrm>
              <a:off x="2438400" y="2428367"/>
              <a:ext cx="1943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1" i="0">
                  <a:solidFill>
                    <a:srgbClr val="C2410C"/>
                  </a:solidFill>
                  <a:latin typeface="Helvetica Neue"/>
                  <a:ea typeface="Microsoft YaHei"/>
                </a:rPr>
                <a:t>1</a:t>
              </a:r>
            </a:p>
          </p:txBody>
        </p:sp>
        <p:sp>
          <p:nvSpPr>
            <p:cNvPr id="68" name="a:answer-ex 文字"/>
            <p:cNvSpPr txBox="1"/>
            <p:nvPr/>
          </p:nvSpPr>
          <p:spPr>
            <a:xfrm>
              <a:off x="2514600" y="2428367"/>
              <a:ext cx="75438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clients in region R</a:t>
              </a:r>
            </a:p>
          </p:txBody>
        </p:sp>
        <p:sp>
          <p:nvSpPr>
            <p:cNvPr id="69" name="a:answer-ex 文字"/>
            <p:cNvSpPr txBox="1"/>
            <p:nvPr/>
          </p:nvSpPr>
          <p:spPr>
            <a:xfrm>
              <a:off x="2438400" y="2555367"/>
              <a:ext cx="1943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5A5A5A"/>
                  </a:solidFill>
                  <a:latin typeface="Helvetica Neue"/>
                  <a:ea typeface="Microsoft YaHei"/>
                </a:rPr>
                <a:t>2</a:t>
              </a:r>
            </a:p>
          </p:txBody>
        </p:sp>
        <p:sp>
          <p:nvSpPr>
            <p:cNvPr id="70" name="a:answer-ex 框"/>
            <p:cNvSpPr/>
            <p:nvPr/>
          </p:nvSpPr>
          <p:spPr>
            <a:xfrm>
              <a:off x="2514600" y="2626360"/>
              <a:ext cx="558800" cy="30480"/>
            </a:xfrm>
            <a:prstGeom prst="roundRect">
              <a:avLst>
                <a:gd name="adj" fmla="val 50000"/>
              </a:avLst>
            </a:prstGeom>
            <a:solidFill>
              <a:srgbClr val="D4D4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1" name="a:answer-ex 文字"/>
            <p:cNvSpPr txBox="1"/>
            <p:nvPr/>
          </p:nvSpPr>
          <p:spPr>
            <a:xfrm>
              <a:off x="2438400" y="2644267"/>
              <a:ext cx="1943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b="0" i="0">
                  <a:solidFill>
                    <a:srgbClr val="5A5A5A"/>
                  </a:solidFill>
                  <a:latin typeface="Helvetica Neue"/>
                  <a:ea typeface="Microsoft YaHei"/>
                </a:rPr>
                <a:t>3</a:t>
              </a:r>
            </a:p>
          </p:txBody>
        </p:sp>
        <p:sp>
          <p:nvSpPr>
            <p:cNvPr id="72" name="a:answer-ex 框"/>
            <p:cNvSpPr/>
            <p:nvPr/>
          </p:nvSpPr>
          <p:spPr>
            <a:xfrm>
              <a:off x="2514600" y="2715260"/>
              <a:ext cx="406400" cy="30480"/>
            </a:xfrm>
            <a:prstGeom prst="roundRect">
              <a:avLst>
                <a:gd name="adj" fmla="val 50000"/>
              </a:avLst>
            </a:prstGeom>
            <a:solidFill>
              <a:srgbClr val="D4D4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</p:grpSp>
      <p:sp>
        <p:nvSpPr>
          <p:cNvPr id="73" name="a:title 文字"/>
          <p:cNvSpPr txBox="1"/>
          <p:nvPr/>
        </p:nvSpPr>
        <p:spPr>
          <a:xfrm>
            <a:off x="370205" y="16255"/>
            <a:ext cx="2942590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800" b="1" i="0" dirty="0">
                <a:solidFill>
                  <a:srgbClr val="C2410C"/>
                </a:solidFill>
                <a:latin typeface="Helvetica Neue"/>
                <a:ea typeface="Microsoft YaHei"/>
              </a:rPr>
              <a:t>R</a:t>
            </a:r>
            <a:r>
              <a:rPr sz="800" b="1" i="0" dirty="0">
                <a:solidFill>
                  <a:srgbClr val="C2410C"/>
                </a:solidFill>
                <a:latin typeface="Helvetica Neue"/>
                <a:ea typeface="Microsoft YaHei"/>
              </a:rPr>
              <a:t>oot cause analysis via Constrained Creativity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</Words>
  <Application>Microsoft Macintosh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 Neue</vt:lpstr>
      <vt:lpstr>Menlo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Lesley Zhou</cp:lastModifiedBy>
  <cp:revision>2</cp:revision>
  <dcterms:created xsi:type="dcterms:W3CDTF">2013-01-27T09:14:16Z</dcterms:created>
  <dcterms:modified xsi:type="dcterms:W3CDTF">2026-10-07T16:03:11Z</dcterms:modified>
  <cp:category/>
</cp:coreProperties>
</file>