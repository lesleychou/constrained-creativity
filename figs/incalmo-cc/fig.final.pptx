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683000" cy="2908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254" d="100"/>
          <a:sy n="254" d="100"/>
        </p:scale>
        <p:origin x="19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框"/>
          <p:cNvSpPr/>
          <p:nvPr/>
        </p:nvSpPr>
        <p:spPr>
          <a:xfrm>
            <a:off x="0" y="0"/>
            <a:ext cx="3683000" cy="290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cxnSp>
        <p:nvCxnSpPr>
          <p:cNvPr id="3" name="e:e-task-dsl 线"/>
          <p:cNvCxnSpPr/>
          <p:nvPr/>
        </p:nvCxnSpPr>
        <p:spPr>
          <a:xfrm>
            <a:off x="939800" y="584200"/>
            <a:ext cx="0" cy="1143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:e-dsl-llm 线"/>
          <p:cNvCxnSpPr/>
          <p:nvPr/>
        </p:nvCxnSpPr>
        <p:spPr>
          <a:xfrm>
            <a:off x="939800" y="977900"/>
            <a:ext cx="0" cy="1143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:e-llm-program 线"/>
          <p:cNvCxnSpPr/>
          <p:nvPr/>
        </p:nvCxnSpPr>
        <p:spPr>
          <a:xfrm>
            <a:off x="939800" y="1371600"/>
            <a:ext cx="0" cy="1143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:e-program-runtime 线"/>
          <p:cNvCxnSpPr/>
          <p:nvPr/>
        </p:nvCxnSpPr>
        <p:spPr>
          <a:xfrm>
            <a:off x="939800" y="1892300"/>
            <a:ext cx="0" cy="1143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:e-runtime-answer 线"/>
          <p:cNvCxnSpPr/>
          <p:nvPr/>
        </p:nvCxnSpPr>
        <p:spPr>
          <a:xfrm>
            <a:off x="939800" y="2286000"/>
            <a:ext cx="0" cy="1143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3" name="e:e-iter runtime→llm"/>
          <p:cNvGrpSpPr/>
          <p:nvPr/>
        </p:nvGrpSpPr>
        <p:grpSpPr>
          <a:xfrm>
            <a:off x="-122047" y="1231900"/>
            <a:ext cx="452247" cy="914400"/>
            <a:chOff x="-122047" y="1231900"/>
            <a:chExt cx="452247" cy="914400"/>
          </a:xfrm>
        </p:grpSpPr>
        <p:sp>
          <p:nvSpPr>
            <p:cNvPr id="8" name="e:e-iter 线"/>
            <p:cNvSpPr/>
            <p:nvPr/>
          </p:nvSpPr>
          <p:spPr>
            <a:xfrm>
              <a:off x="165100" y="1231900"/>
              <a:ext cx="165100" cy="914400"/>
            </a:xfrm>
            <a:custGeom>
              <a:avLst/>
              <a:gdLst/>
              <a:ahLst/>
              <a:cxnLst/>
              <a:rect l="0" t="0" r="r" b="b"/>
              <a:pathLst>
                <a:path w="13000" h="72000" fill="none">
                  <a:moveTo>
                    <a:pt x="13000" y="72000"/>
                  </a:moveTo>
                  <a:lnTo>
                    <a:pt x="0" y="72000"/>
                  </a:lnTo>
                  <a:lnTo>
                    <a:pt x="0" y="0"/>
                  </a:lnTo>
                  <a:lnTo>
                    <a:pt x="13000" y="0"/>
                  </a:lnTo>
                </a:path>
              </a:pathLst>
            </a:custGeom>
            <a:noFill/>
            <a:ln w="9144" cap="flat">
              <a:solidFill>
                <a:srgbClr val="C2410C"/>
              </a:solidFill>
              <a:custDash>
                <a:ds d="347222" sp="263888"/>
              </a:custDash>
              <a:miter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e:e-iter 文字"/>
            <p:cNvSpPr txBox="1"/>
            <p:nvPr/>
          </p:nvSpPr>
          <p:spPr>
            <a:xfrm rot="16200000">
              <a:off x="-122047" y="1605280"/>
              <a:ext cx="429768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iterate</a:t>
              </a:r>
            </a:p>
          </p:txBody>
        </p:sp>
      </p:grpSp>
      <p:grpSp>
        <p:nvGrpSpPr>
          <p:cNvPr id="84" name="n:task Task"/>
          <p:cNvGrpSpPr/>
          <p:nvPr/>
        </p:nvGrpSpPr>
        <p:grpSpPr>
          <a:xfrm>
            <a:off x="330200" y="304800"/>
            <a:ext cx="1219200" cy="279400"/>
            <a:chOff x="330200" y="304800"/>
            <a:chExt cx="1219200" cy="279400"/>
          </a:xfrm>
        </p:grpSpPr>
        <p:sp>
          <p:nvSpPr>
            <p:cNvPr id="10" name="n:task 框"/>
            <p:cNvSpPr/>
            <p:nvPr/>
          </p:nvSpPr>
          <p:spPr>
            <a:xfrm>
              <a:off x="330200" y="3048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" name="n:task 圆"/>
            <p:cNvSpPr/>
            <p:nvPr/>
          </p:nvSpPr>
          <p:spPr>
            <a:xfrm>
              <a:off x="432196" y="396478"/>
              <a:ext cx="104775" cy="104775"/>
            </a:xfrm>
            <a:prstGeom prst="ellipse">
              <a:avLst/>
            </a:pr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2" name="n:task 圆"/>
            <p:cNvSpPr/>
            <p:nvPr/>
          </p:nvSpPr>
          <p:spPr>
            <a:xfrm>
              <a:off x="454898" y="419179"/>
              <a:ext cx="59372" cy="59372"/>
            </a:xfrm>
            <a:prstGeom prst="ellipse">
              <a:avLst/>
            </a:pr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n:task 线"/>
            <p:cNvSpPr/>
            <p:nvPr/>
          </p:nvSpPr>
          <p:spPr>
            <a:xfrm>
              <a:off x="484584" y="393858"/>
              <a:ext cx="55006" cy="55006"/>
            </a:xfrm>
            <a:custGeom>
              <a:avLst/>
              <a:gdLst/>
              <a:ahLst/>
              <a:cxnLst/>
              <a:rect l="0" t="0" r="r" b="b"/>
              <a:pathLst>
                <a:path w="4331" h="4331" fill="none">
                  <a:moveTo>
                    <a:pt x="0" y="4331"/>
                  </a:moveTo>
                  <a:lnTo>
                    <a:pt x="4194" y="137"/>
                  </a:lnTo>
                  <a:moveTo>
                    <a:pt x="2819" y="0"/>
                  </a:moveTo>
                  <a:lnTo>
                    <a:pt x="4194" y="137"/>
                  </a:lnTo>
                  <a:lnTo>
                    <a:pt x="4331" y="1512"/>
                  </a:ln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n:task 圆"/>
            <p:cNvSpPr/>
            <p:nvPr/>
          </p:nvSpPr>
          <p:spPr>
            <a:xfrm>
              <a:off x="474980" y="439261"/>
              <a:ext cx="19208" cy="19208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5" name="n:task 文字"/>
            <p:cNvSpPr txBox="1"/>
            <p:nvPr/>
          </p:nvSpPr>
          <p:spPr>
            <a:xfrm>
              <a:off x="622300" y="346011"/>
              <a:ext cx="362712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262626"/>
                  </a:solidFill>
                  <a:latin typeface="Helvetica Neue"/>
                  <a:ea typeface="Microsoft YaHei"/>
                </a:rPr>
                <a:t>Task</a:t>
              </a:r>
            </a:p>
          </p:txBody>
        </p:sp>
      </p:grpSp>
      <p:grpSp>
        <p:nvGrpSpPr>
          <p:cNvPr id="85" name="a:task-ex example: Task"/>
          <p:cNvGrpSpPr/>
          <p:nvPr/>
        </p:nvGrpSpPr>
        <p:grpSpPr>
          <a:xfrm>
            <a:off x="1651000" y="304800"/>
            <a:ext cx="1930400" cy="279400"/>
            <a:chOff x="1651000" y="304800"/>
            <a:chExt cx="1930400" cy="279400"/>
          </a:xfrm>
        </p:grpSpPr>
        <p:sp>
          <p:nvSpPr>
            <p:cNvPr id="16" name="a:task-ex 框"/>
            <p:cNvSpPr/>
            <p:nvPr/>
          </p:nvSpPr>
          <p:spPr>
            <a:xfrm>
              <a:off x="1651000" y="3048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7" name="a:task-ex 文字"/>
            <p:cNvSpPr txBox="1"/>
            <p:nvPr/>
          </p:nvSpPr>
          <p:spPr>
            <a:xfrm>
              <a:off x="1739900" y="359537"/>
              <a:ext cx="1796795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“Gain access and exfiltrate sensitive data.”</a:t>
              </a:r>
            </a:p>
          </p:txBody>
        </p:sp>
      </p:grpSp>
      <p:grpSp>
        <p:nvGrpSpPr>
          <p:cNvPr id="86" name="n:dsl DSL / Playbook"/>
          <p:cNvGrpSpPr/>
          <p:nvPr/>
        </p:nvGrpSpPr>
        <p:grpSpPr>
          <a:xfrm>
            <a:off x="330200" y="698500"/>
            <a:ext cx="1219200" cy="279400"/>
            <a:chOff x="330200" y="698500"/>
            <a:chExt cx="1219200" cy="279400"/>
          </a:xfrm>
        </p:grpSpPr>
        <p:sp>
          <p:nvSpPr>
            <p:cNvPr id="18" name="n:dsl 框"/>
            <p:cNvSpPr/>
            <p:nvPr/>
          </p:nvSpPr>
          <p:spPr>
            <a:xfrm>
              <a:off x="330200" y="6985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n:dsl 框"/>
            <p:cNvSpPr/>
            <p:nvPr/>
          </p:nvSpPr>
          <p:spPr>
            <a:xfrm>
              <a:off x="432196" y="846931"/>
              <a:ext cx="113506" cy="43656"/>
            </a:xfrm>
            <a:prstGeom prst="roundRect">
              <a:avLst>
                <a:gd name="adj" fmla="val 12000"/>
              </a:avLst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0" name="n:dsl 框"/>
            <p:cNvSpPr/>
            <p:nvPr/>
          </p:nvSpPr>
          <p:spPr>
            <a:xfrm>
              <a:off x="449659" y="798909"/>
              <a:ext cx="78581" cy="48021"/>
            </a:xfrm>
            <a:prstGeom prst="roundRect">
              <a:avLst>
                <a:gd name="adj" fmla="val 10909"/>
              </a:avLst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1" name="n:dsl 线"/>
            <p:cNvSpPr/>
            <p:nvPr/>
          </p:nvSpPr>
          <p:spPr>
            <a:xfrm>
              <a:off x="462756" y="787558"/>
              <a:ext cx="52387" cy="11350"/>
            </a:xfrm>
            <a:custGeom>
              <a:avLst/>
              <a:gdLst/>
              <a:ahLst/>
              <a:cxnLst/>
              <a:rect l="0" t="0" r="r" b="b"/>
              <a:pathLst>
                <a:path w="4125" h="893" fill="none">
                  <a:moveTo>
                    <a:pt x="0" y="894"/>
                  </a:moveTo>
                  <a:lnTo>
                    <a:pt x="0" y="0"/>
                  </a:lnTo>
                  <a:lnTo>
                    <a:pt x="1375" y="0"/>
                  </a:lnTo>
                  <a:lnTo>
                    <a:pt x="1375" y="894"/>
                  </a:lnTo>
                  <a:moveTo>
                    <a:pt x="2750" y="894"/>
                  </a:moveTo>
                  <a:lnTo>
                    <a:pt x="2750" y="0"/>
                  </a:lnTo>
                  <a:lnTo>
                    <a:pt x="4125" y="0"/>
                  </a:lnTo>
                  <a:lnTo>
                    <a:pt x="4125" y="894"/>
                  </a:lnTo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n:dsl 文字"/>
            <p:cNvSpPr txBox="1"/>
            <p:nvPr/>
          </p:nvSpPr>
          <p:spPr>
            <a:xfrm>
              <a:off x="622300" y="739711"/>
              <a:ext cx="778763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262626"/>
                  </a:solidFill>
                  <a:latin typeface="Helvetica Neue"/>
                  <a:ea typeface="Microsoft YaHei"/>
                </a:rPr>
                <a:t>DSL / Playbook</a:t>
              </a:r>
            </a:p>
          </p:txBody>
        </p:sp>
      </p:grpSp>
      <p:grpSp>
        <p:nvGrpSpPr>
          <p:cNvPr id="87" name="a:dsl-ex example: DSL / Playbook"/>
          <p:cNvGrpSpPr/>
          <p:nvPr/>
        </p:nvGrpSpPr>
        <p:grpSpPr>
          <a:xfrm>
            <a:off x="1651000" y="698500"/>
            <a:ext cx="1930400" cy="279400"/>
            <a:chOff x="1651000" y="698500"/>
            <a:chExt cx="1930400" cy="279400"/>
          </a:xfrm>
        </p:grpSpPr>
        <p:sp>
          <p:nvSpPr>
            <p:cNvPr id="23" name="a:dsl-ex 框"/>
            <p:cNvSpPr/>
            <p:nvPr/>
          </p:nvSpPr>
          <p:spPr>
            <a:xfrm>
              <a:off x="1651000" y="6985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4" name="a:dsl-ex 框"/>
            <p:cNvSpPr/>
            <p:nvPr/>
          </p:nvSpPr>
          <p:spPr>
            <a:xfrm>
              <a:off x="1739900" y="781050"/>
              <a:ext cx="23622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5" name="a:dsl-ex 文字"/>
            <p:cNvSpPr txBox="1"/>
            <p:nvPr/>
          </p:nvSpPr>
          <p:spPr>
            <a:xfrm>
              <a:off x="1702562" y="753236"/>
              <a:ext cx="310896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scan</a:t>
              </a:r>
            </a:p>
          </p:txBody>
        </p:sp>
        <p:sp>
          <p:nvSpPr>
            <p:cNvPr id="26" name="a:dsl-ex 框"/>
            <p:cNvSpPr/>
            <p:nvPr/>
          </p:nvSpPr>
          <p:spPr>
            <a:xfrm>
              <a:off x="2014220" y="781050"/>
              <a:ext cx="29464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7" name="a:dsl-ex 文字"/>
            <p:cNvSpPr txBox="1"/>
            <p:nvPr/>
          </p:nvSpPr>
          <p:spPr>
            <a:xfrm>
              <a:off x="1946655" y="753236"/>
              <a:ext cx="429768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exploit</a:t>
              </a:r>
            </a:p>
          </p:txBody>
        </p:sp>
        <p:sp>
          <p:nvSpPr>
            <p:cNvPr id="28" name="a:dsl-ex 框"/>
            <p:cNvSpPr/>
            <p:nvPr/>
          </p:nvSpPr>
          <p:spPr>
            <a:xfrm>
              <a:off x="2346960" y="781050"/>
              <a:ext cx="48895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9" name="a:dsl-ex 文字"/>
            <p:cNvSpPr txBox="1"/>
            <p:nvPr/>
          </p:nvSpPr>
          <p:spPr>
            <a:xfrm>
              <a:off x="2287397" y="753236"/>
              <a:ext cx="608076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lateral move</a:t>
              </a:r>
            </a:p>
          </p:txBody>
        </p:sp>
        <p:sp>
          <p:nvSpPr>
            <p:cNvPr id="30" name="a:dsl-ex 文字"/>
            <p:cNvSpPr txBox="1"/>
            <p:nvPr/>
          </p:nvSpPr>
          <p:spPr>
            <a:xfrm>
              <a:off x="2886710" y="753236"/>
              <a:ext cx="192024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…</a:t>
              </a:r>
            </a:p>
          </p:txBody>
        </p:sp>
      </p:grpSp>
      <p:grpSp>
        <p:nvGrpSpPr>
          <p:cNvPr id="88" name="n:llm LLM"/>
          <p:cNvGrpSpPr/>
          <p:nvPr/>
        </p:nvGrpSpPr>
        <p:grpSpPr>
          <a:xfrm>
            <a:off x="330200" y="1092200"/>
            <a:ext cx="1219200" cy="279400"/>
            <a:chOff x="330200" y="1092200"/>
            <a:chExt cx="1219200" cy="279400"/>
          </a:xfrm>
        </p:grpSpPr>
        <p:sp>
          <p:nvSpPr>
            <p:cNvPr id="31" name="n:llm 框"/>
            <p:cNvSpPr/>
            <p:nvPr/>
          </p:nvSpPr>
          <p:spPr>
            <a:xfrm>
              <a:off x="330200" y="10922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E7E7E7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2" name="n:llm 线"/>
            <p:cNvSpPr/>
            <p:nvPr/>
          </p:nvSpPr>
          <p:spPr>
            <a:xfrm>
              <a:off x="433070" y="1173400"/>
              <a:ext cx="111759" cy="110886"/>
            </a:xfrm>
            <a:custGeom>
              <a:avLst/>
              <a:gdLst/>
              <a:ahLst/>
              <a:cxnLst/>
              <a:rect l="0" t="0" r="r" b="b"/>
              <a:pathLst>
                <a:path w="8799" h="8731">
                  <a:moveTo>
                    <a:pt x="4400" y="894"/>
                  </a:moveTo>
                  <a:cubicBezTo>
                    <a:pt x="3231" y="0"/>
                    <a:pt x="1375" y="481"/>
                    <a:pt x="1100" y="1925"/>
                  </a:cubicBezTo>
                  <a:cubicBezTo>
                    <a:pt x="137" y="2338"/>
                    <a:pt x="0" y="3713"/>
                    <a:pt x="825" y="4400"/>
                  </a:cubicBezTo>
                  <a:cubicBezTo>
                    <a:pt x="275" y="5431"/>
                    <a:pt x="962" y="6806"/>
                    <a:pt x="2200" y="7081"/>
                  </a:cubicBezTo>
                  <a:cubicBezTo>
                    <a:pt x="2475" y="8319"/>
                    <a:pt x="3919" y="8731"/>
                    <a:pt x="4400" y="7906"/>
                  </a:cubicBezTo>
                  <a:cubicBezTo>
                    <a:pt x="4881" y="8731"/>
                    <a:pt x="6325" y="8319"/>
                    <a:pt x="6600" y="7081"/>
                  </a:cubicBezTo>
                  <a:cubicBezTo>
                    <a:pt x="7837" y="6806"/>
                    <a:pt x="8525" y="5431"/>
                    <a:pt x="7975" y="4400"/>
                  </a:cubicBezTo>
                  <a:cubicBezTo>
                    <a:pt x="8800" y="3713"/>
                    <a:pt x="8663" y="2338"/>
                    <a:pt x="7700" y="1925"/>
                  </a:cubicBezTo>
                  <a:cubicBezTo>
                    <a:pt x="7425" y="481"/>
                    <a:pt x="5569" y="0"/>
                    <a:pt x="4400" y="894"/>
                  </a:cubicBezTo>
                  <a:close/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3" name="n:llm 线"/>
            <p:cNvCxnSpPr/>
            <p:nvPr/>
          </p:nvCxnSpPr>
          <p:spPr>
            <a:xfrm>
              <a:off x="488950" y="1184751"/>
              <a:ext cx="0" cy="89059"/>
            </a:xfrm>
            <a:prstGeom prst="line">
              <a:avLst/>
            </a:prstGeom>
            <a:ln w="13843" cap="rnd">
              <a:solidFill>
                <a:srgbClr val="262626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n:llm 线"/>
            <p:cNvSpPr/>
            <p:nvPr/>
          </p:nvSpPr>
          <p:spPr>
            <a:xfrm>
              <a:off x="466248" y="1207452"/>
              <a:ext cx="11350" cy="20954"/>
            </a:xfrm>
            <a:custGeom>
              <a:avLst/>
              <a:gdLst/>
              <a:ahLst/>
              <a:cxnLst/>
              <a:rect l="0" t="0" r="r" b="b"/>
              <a:pathLst>
                <a:path w="893" h="1649" fill="none">
                  <a:moveTo>
                    <a:pt x="0" y="0"/>
                  </a:moveTo>
                  <a:cubicBezTo>
                    <a:pt x="894" y="275"/>
                    <a:pt x="894" y="1306"/>
                    <a:pt x="0" y="1650"/>
                  </a:cubicBez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n:llm 线"/>
            <p:cNvSpPr/>
            <p:nvPr/>
          </p:nvSpPr>
          <p:spPr>
            <a:xfrm>
              <a:off x="500300" y="1235392"/>
              <a:ext cx="11350" cy="20954"/>
            </a:xfrm>
            <a:custGeom>
              <a:avLst/>
              <a:gdLst/>
              <a:ahLst/>
              <a:cxnLst/>
              <a:rect l="0" t="0" r="r" b="b"/>
              <a:pathLst>
                <a:path w="893" h="1649" fill="none">
                  <a:moveTo>
                    <a:pt x="894" y="0"/>
                  </a:moveTo>
                  <a:cubicBezTo>
                    <a:pt x="0" y="275"/>
                    <a:pt x="0" y="1306"/>
                    <a:pt x="894" y="1650"/>
                  </a:cubicBez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n:llm 文字"/>
            <p:cNvSpPr txBox="1"/>
            <p:nvPr/>
          </p:nvSpPr>
          <p:spPr>
            <a:xfrm>
              <a:off x="622300" y="1133411"/>
              <a:ext cx="316484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262626"/>
                  </a:solidFill>
                  <a:latin typeface="Helvetica Neue"/>
                  <a:ea typeface="Microsoft YaHei"/>
                </a:rPr>
                <a:t>LLM</a:t>
              </a:r>
            </a:p>
          </p:txBody>
        </p:sp>
      </p:grpSp>
      <p:grpSp>
        <p:nvGrpSpPr>
          <p:cNvPr id="89" name="a:llm-ex example: LLM"/>
          <p:cNvGrpSpPr/>
          <p:nvPr/>
        </p:nvGrpSpPr>
        <p:grpSpPr>
          <a:xfrm>
            <a:off x="1651000" y="1092200"/>
            <a:ext cx="1930400" cy="279400"/>
            <a:chOff x="1651000" y="1092200"/>
            <a:chExt cx="1930400" cy="279400"/>
          </a:xfrm>
        </p:grpSpPr>
        <p:sp>
          <p:nvSpPr>
            <p:cNvPr id="37" name="a:llm-ex 框"/>
            <p:cNvSpPr/>
            <p:nvPr/>
          </p:nvSpPr>
          <p:spPr>
            <a:xfrm>
              <a:off x="1651000" y="10922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8" name="a:llm-ex 文字"/>
            <p:cNvSpPr txBox="1"/>
            <p:nvPr/>
          </p:nvSpPr>
          <p:spPr>
            <a:xfrm>
              <a:off x="1739900" y="1146937"/>
              <a:ext cx="1776983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plan a sequence of high-level attack actions</a:t>
              </a:r>
            </a:p>
          </p:txBody>
        </p:sp>
      </p:grpSp>
      <p:grpSp>
        <p:nvGrpSpPr>
          <p:cNvPr id="90" name="n:program DSL program"/>
          <p:cNvGrpSpPr/>
          <p:nvPr/>
        </p:nvGrpSpPr>
        <p:grpSpPr>
          <a:xfrm>
            <a:off x="330200" y="1485900"/>
            <a:ext cx="1219200" cy="406400"/>
            <a:chOff x="330200" y="1485900"/>
            <a:chExt cx="1219200" cy="406400"/>
          </a:xfrm>
        </p:grpSpPr>
        <p:sp>
          <p:nvSpPr>
            <p:cNvPr id="39" name="n:program 框"/>
            <p:cNvSpPr/>
            <p:nvPr/>
          </p:nvSpPr>
          <p:spPr>
            <a:xfrm>
              <a:off x="330200" y="1485900"/>
              <a:ext cx="1219200" cy="406400"/>
            </a:xfrm>
            <a:prstGeom prst="roundRect">
              <a:avLst>
                <a:gd name="adj" fmla="val 4687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0" name="n:program 圆"/>
            <p:cNvSpPr/>
            <p:nvPr/>
          </p:nvSpPr>
          <p:spPr>
            <a:xfrm>
              <a:off x="471487" y="1631473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1" name="n:program 圆"/>
            <p:cNvSpPr/>
            <p:nvPr/>
          </p:nvSpPr>
          <p:spPr>
            <a:xfrm>
              <a:off x="431323" y="1710055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2" name="n:program 圆"/>
            <p:cNvSpPr/>
            <p:nvPr/>
          </p:nvSpPr>
          <p:spPr>
            <a:xfrm>
              <a:off x="511651" y="1710055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3" name="n:program 线"/>
            <p:cNvSpPr/>
            <p:nvPr/>
          </p:nvSpPr>
          <p:spPr>
            <a:xfrm>
              <a:off x="457517" y="1664652"/>
              <a:ext cx="62865" cy="62865"/>
            </a:xfrm>
            <a:custGeom>
              <a:avLst/>
              <a:gdLst/>
              <a:ahLst/>
              <a:cxnLst/>
              <a:rect l="0" t="0" r="r" b="b"/>
              <a:pathLst>
                <a:path w="4950" h="4950" fill="none">
                  <a:moveTo>
                    <a:pt x="1788" y="0"/>
                  </a:moveTo>
                  <a:lnTo>
                    <a:pt x="0" y="3713"/>
                  </a:lnTo>
                  <a:moveTo>
                    <a:pt x="3163" y="0"/>
                  </a:moveTo>
                  <a:lnTo>
                    <a:pt x="4950" y="3713"/>
                  </a:lnTo>
                  <a:moveTo>
                    <a:pt x="688" y="4950"/>
                  </a:moveTo>
                  <a:lnTo>
                    <a:pt x="4263" y="4950"/>
                  </a:lnTo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n:program 文字"/>
            <p:cNvSpPr txBox="1"/>
            <p:nvPr/>
          </p:nvSpPr>
          <p:spPr>
            <a:xfrm>
              <a:off x="622300" y="1590611"/>
              <a:ext cx="663193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262626"/>
                  </a:solidFill>
                  <a:latin typeface="Helvetica Neue"/>
                  <a:ea typeface="Microsoft YaHei"/>
                </a:rPr>
                <a:t>DSL program</a:t>
              </a:r>
            </a:p>
          </p:txBody>
        </p:sp>
      </p:grpSp>
      <p:grpSp>
        <p:nvGrpSpPr>
          <p:cNvPr id="91" name="a:program-ex example: DSL program"/>
          <p:cNvGrpSpPr/>
          <p:nvPr/>
        </p:nvGrpSpPr>
        <p:grpSpPr>
          <a:xfrm>
            <a:off x="1651000" y="1485900"/>
            <a:ext cx="1930400" cy="406400"/>
            <a:chOff x="1651000" y="1485900"/>
            <a:chExt cx="1930400" cy="406400"/>
          </a:xfrm>
        </p:grpSpPr>
        <p:sp>
          <p:nvSpPr>
            <p:cNvPr id="45" name="a:program-ex 框"/>
            <p:cNvSpPr/>
            <p:nvPr/>
          </p:nvSpPr>
          <p:spPr>
            <a:xfrm>
              <a:off x="1651000" y="1485900"/>
              <a:ext cx="1930400" cy="406400"/>
            </a:xfrm>
            <a:prstGeom prst="roundRect">
              <a:avLst>
                <a:gd name="adj" fmla="val 625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6" name="a:program-ex 文字"/>
            <p:cNvSpPr txBox="1"/>
            <p:nvPr/>
          </p:nvSpPr>
          <p:spPr>
            <a:xfrm>
              <a:off x="1739900" y="1501267"/>
              <a:ext cx="647699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Menlo"/>
                  <a:ea typeface="Microsoft YaHei"/>
                </a:rPr>
                <a:t>1 Scan(hosts)</a:t>
              </a:r>
            </a:p>
          </p:txBody>
        </p:sp>
        <p:sp>
          <p:nvSpPr>
            <p:cNvPr id="47" name="a:program-ex 文字"/>
            <p:cNvSpPr txBox="1"/>
            <p:nvPr/>
          </p:nvSpPr>
          <p:spPr>
            <a:xfrm>
              <a:off x="1739900" y="1602867"/>
              <a:ext cx="964691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Menlo"/>
                  <a:ea typeface="Microsoft YaHei"/>
                </a:rPr>
                <a:t>2 LateralMove(target)</a:t>
              </a:r>
            </a:p>
          </p:txBody>
        </p:sp>
        <p:sp>
          <p:nvSpPr>
            <p:cNvPr id="48" name="a:program-ex 文字"/>
            <p:cNvSpPr txBox="1"/>
            <p:nvPr/>
          </p:nvSpPr>
          <p:spPr>
            <a:xfrm>
              <a:off x="1739900" y="1704467"/>
              <a:ext cx="1004315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Menlo"/>
                  <a:ea typeface="Microsoft YaHei"/>
                </a:rPr>
                <a:t>3 ExfiltrateData(path)</a:t>
              </a:r>
            </a:p>
          </p:txBody>
        </p:sp>
      </p:grpSp>
      <p:grpSp>
        <p:nvGrpSpPr>
          <p:cNvPr id="92" name="n:runtime DSL runtime engine"/>
          <p:cNvGrpSpPr/>
          <p:nvPr/>
        </p:nvGrpSpPr>
        <p:grpSpPr>
          <a:xfrm>
            <a:off x="330200" y="2006600"/>
            <a:ext cx="1255775" cy="279400"/>
            <a:chOff x="330200" y="2006600"/>
            <a:chExt cx="1255775" cy="279400"/>
          </a:xfrm>
        </p:grpSpPr>
        <p:sp>
          <p:nvSpPr>
            <p:cNvPr id="49" name="n:runtime 框"/>
            <p:cNvSpPr/>
            <p:nvPr/>
          </p:nvSpPr>
          <p:spPr>
            <a:xfrm>
              <a:off x="330200" y="20066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0" name="n:runtime 线"/>
            <p:cNvSpPr/>
            <p:nvPr/>
          </p:nvSpPr>
          <p:spPr>
            <a:xfrm>
              <a:off x="432284" y="2089634"/>
              <a:ext cx="113331" cy="113331"/>
            </a:xfrm>
            <a:custGeom>
              <a:avLst/>
              <a:gdLst/>
              <a:ahLst/>
              <a:cxnLst/>
              <a:rect l="0" t="0" r="r" b="b"/>
              <a:pathLst>
                <a:path w="8923" h="8923">
                  <a:moveTo>
                    <a:pt x="8924" y="3644"/>
                  </a:moveTo>
                  <a:lnTo>
                    <a:pt x="8924" y="5280"/>
                  </a:lnTo>
                  <a:lnTo>
                    <a:pt x="7542" y="5438"/>
                  </a:lnTo>
                  <a:lnTo>
                    <a:pt x="7329" y="5954"/>
                  </a:lnTo>
                  <a:lnTo>
                    <a:pt x="8195" y="7040"/>
                  </a:lnTo>
                  <a:lnTo>
                    <a:pt x="7040" y="8195"/>
                  </a:lnTo>
                  <a:lnTo>
                    <a:pt x="5954" y="7329"/>
                  </a:lnTo>
                  <a:lnTo>
                    <a:pt x="5438" y="7542"/>
                  </a:lnTo>
                  <a:lnTo>
                    <a:pt x="5280" y="8924"/>
                  </a:lnTo>
                  <a:lnTo>
                    <a:pt x="3644" y="8924"/>
                  </a:lnTo>
                  <a:lnTo>
                    <a:pt x="3486" y="7542"/>
                  </a:lnTo>
                  <a:lnTo>
                    <a:pt x="2970" y="7329"/>
                  </a:lnTo>
                  <a:lnTo>
                    <a:pt x="1884" y="8195"/>
                  </a:lnTo>
                  <a:lnTo>
                    <a:pt x="729" y="7040"/>
                  </a:lnTo>
                  <a:lnTo>
                    <a:pt x="1595" y="5954"/>
                  </a:lnTo>
                  <a:lnTo>
                    <a:pt x="1382" y="5438"/>
                  </a:lnTo>
                  <a:lnTo>
                    <a:pt x="0" y="5280"/>
                  </a:lnTo>
                  <a:lnTo>
                    <a:pt x="0" y="3644"/>
                  </a:lnTo>
                  <a:lnTo>
                    <a:pt x="1382" y="3486"/>
                  </a:lnTo>
                  <a:lnTo>
                    <a:pt x="1595" y="2970"/>
                  </a:lnTo>
                  <a:lnTo>
                    <a:pt x="729" y="1884"/>
                  </a:lnTo>
                  <a:lnTo>
                    <a:pt x="1884" y="729"/>
                  </a:lnTo>
                  <a:lnTo>
                    <a:pt x="2970" y="1595"/>
                  </a:lnTo>
                  <a:lnTo>
                    <a:pt x="3486" y="1382"/>
                  </a:lnTo>
                  <a:lnTo>
                    <a:pt x="3644" y="0"/>
                  </a:lnTo>
                  <a:lnTo>
                    <a:pt x="5280" y="0"/>
                  </a:lnTo>
                  <a:lnTo>
                    <a:pt x="5438" y="1382"/>
                  </a:lnTo>
                  <a:lnTo>
                    <a:pt x="5954" y="1595"/>
                  </a:lnTo>
                  <a:lnTo>
                    <a:pt x="7040" y="729"/>
                  </a:lnTo>
                  <a:lnTo>
                    <a:pt x="8195" y="1884"/>
                  </a:lnTo>
                  <a:lnTo>
                    <a:pt x="7329" y="2970"/>
                  </a:lnTo>
                  <a:lnTo>
                    <a:pt x="7542" y="3486"/>
                  </a:lnTo>
                  <a:close/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n:runtime 圆"/>
            <p:cNvSpPr/>
            <p:nvPr/>
          </p:nvSpPr>
          <p:spPr>
            <a:xfrm>
              <a:off x="470614" y="2127964"/>
              <a:ext cx="36671" cy="36671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2" name="n:runtime 文字"/>
            <p:cNvSpPr txBox="1"/>
            <p:nvPr/>
          </p:nvSpPr>
          <p:spPr>
            <a:xfrm>
              <a:off x="622300" y="2047811"/>
              <a:ext cx="963675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262626"/>
                  </a:solidFill>
                  <a:latin typeface="Helvetica Neue"/>
                  <a:ea typeface="Microsoft YaHei"/>
                </a:rPr>
                <a:t>DSL runtime engine</a:t>
              </a:r>
            </a:p>
          </p:txBody>
        </p:sp>
      </p:grpSp>
      <p:grpSp>
        <p:nvGrpSpPr>
          <p:cNvPr id="93" name="a:runtime-ex example: DSL runtime eng"/>
          <p:cNvGrpSpPr/>
          <p:nvPr/>
        </p:nvGrpSpPr>
        <p:grpSpPr>
          <a:xfrm>
            <a:off x="1651000" y="2006600"/>
            <a:ext cx="1930400" cy="279400"/>
            <a:chOff x="1651000" y="2006600"/>
            <a:chExt cx="1930400" cy="279400"/>
          </a:xfrm>
        </p:grpSpPr>
        <p:sp>
          <p:nvSpPr>
            <p:cNvPr id="53" name="a:runtime-ex 框"/>
            <p:cNvSpPr/>
            <p:nvPr/>
          </p:nvSpPr>
          <p:spPr>
            <a:xfrm>
              <a:off x="1651000" y="20066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4" name="a:runtime-ex 框"/>
            <p:cNvSpPr/>
            <p:nvPr/>
          </p:nvSpPr>
          <p:spPr>
            <a:xfrm>
              <a:off x="1739900" y="2089150"/>
              <a:ext cx="26543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5" name="a:runtime-ex 文字"/>
            <p:cNvSpPr txBox="1"/>
            <p:nvPr/>
          </p:nvSpPr>
          <p:spPr>
            <a:xfrm>
              <a:off x="1717166" y="2061337"/>
              <a:ext cx="310896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5A5A5A"/>
                  </a:solidFill>
                  <a:latin typeface="Helvetica Neue"/>
                  <a:ea typeface="Microsoft YaHei"/>
                </a:rPr>
                <a:t>nmap</a:t>
              </a:r>
            </a:p>
          </p:txBody>
        </p:sp>
        <p:sp>
          <p:nvSpPr>
            <p:cNvPr id="56" name="a:runtime-ex 框"/>
            <p:cNvSpPr/>
            <p:nvPr/>
          </p:nvSpPr>
          <p:spPr>
            <a:xfrm>
              <a:off x="2043430" y="2089150"/>
              <a:ext cx="42164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7" name="a:runtime-ex 文字"/>
            <p:cNvSpPr txBox="1"/>
            <p:nvPr/>
          </p:nvSpPr>
          <p:spPr>
            <a:xfrm>
              <a:off x="1979930" y="2061337"/>
              <a:ext cx="548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5A5A5A"/>
                  </a:solidFill>
                  <a:latin typeface="Helvetica Neue"/>
                  <a:ea typeface="Microsoft YaHei"/>
                </a:rPr>
                <a:t>Metasploit</a:t>
              </a:r>
            </a:p>
          </p:txBody>
        </p:sp>
        <p:sp>
          <p:nvSpPr>
            <p:cNvPr id="58" name="a:runtime-ex 框"/>
            <p:cNvSpPr/>
            <p:nvPr/>
          </p:nvSpPr>
          <p:spPr>
            <a:xfrm>
              <a:off x="2503170" y="2089150"/>
              <a:ext cx="52832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9" name="a:runtime-ex 文字"/>
            <p:cNvSpPr txBox="1"/>
            <p:nvPr/>
          </p:nvSpPr>
          <p:spPr>
            <a:xfrm>
              <a:off x="2423668" y="2061337"/>
              <a:ext cx="687323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5A5A5A"/>
                  </a:solidFill>
                  <a:latin typeface="Helvetica Neue"/>
                  <a:ea typeface="Microsoft YaHei"/>
                </a:rPr>
                <a:t>state tracking</a:t>
              </a:r>
            </a:p>
          </p:txBody>
        </p:sp>
      </p:grpSp>
      <p:grpSp>
        <p:nvGrpSpPr>
          <p:cNvPr id="94" name="n:answer Answer"/>
          <p:cNvGrpSpPr/>
          <p:nvPr/>
        </p:nvGrpSpPr>
        <p:grpSpPr>
          <a:xfrm>
            <a:off x="330200" y="2400300"/>
            <a:ext cx="1219200" cy="431800"/>
            <a:chOff x="330200" y="2400300"/>
            <a:chExt cx="1219200" cy="431800"/>
          </a:xfrm>
        </p:grpSpPr>
        <p:sp>
          <p:nvSpPr>
            <p:cNvPr id="60" name="n:answer 框"/>
            <p:cNvSpPr/>
            <p:nvPr/>
          </p:nvSpPr>
          <p:spPr>
            <a:xfrm>
              <a:off x="330200" y="2400300"/>
              <a:ext cx="1219200" cy="431800"/>
            </a:xfrm>
            <a:prstGeom prst="roundRect">
              <a:avLst>
                <a:gd name="adj" fmla="val 4411"/>
              </a:avLst>
            </a:prstGeom>
            <a:solidFill>
              <a:srgbClr val="C2410C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1" name="n:answer 圆"/>
            <p:cNvSpPr/>
            <p:nvPr/>
          </p:nvSpPr>
          <p:spPr>
            <a:xfrm>
              <a:off x="438308" y="2565558"/>
              <a:ext cx="76835" cy="76835"/>
            </a:xfrm>
            <a:prstGeom prst="ellipse">
              <a:avLst/>
            </a:prstGeom>
            <a:noFill/>
            <a:ln w="13843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cxnSp>
          <p:nvCxnSpPr>
            <p:cNvPr id="62" name="n:answer 线"/>
            <p:cNvCxnSpPr/>
            <p:nvPr/>
          </p:nvCxnSpPr>
          <p:spPr>
            <a:xfrm>
              <a:off x="504666" y="2631916"/>
              <a:ext cx="38417" cy="38417"/>
            </a:xfrm>
            <a:prstGeom prst="line">
              <a:avLst/>
            </a:prstGeom>
            <a:ln w="13843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n:answer 文字"/>
            <p:cNvSpPr txBox="1"/>
            <p:nvPr/>
          </p:nvSpPr>
          <p:spPr>
            <a:xfrm>
              <a:off x="622300" y="2517711"/>
              <a:ext cx="455168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FFFFFF"/>
                  </a:solidFill>
                  <a:latin typeface="Helvetica Neue"/>
                  <a:ea typeface="Microsoft YaHei"/>
                </a:rPr>
                <a:t>Answer</a:t>
              </a:r>
            </a:p>
          </p:txBody>
        </p:sp>
      </p:grpSp>
      <p:grpSp>
        <p:nvGrpSpPr>
          <p:cNvPr id="95" name="a:answer-ex example: Answer"/>
          <p:cNvGrpSpPr/>
          <p:nvPr/>
        </p:nvGrpSpPr>
        <p:grpSpPr>
          <a:xfrm>
            <a:off x="1651000" y="2400300"/>
            <a:ext cx="1930400" cy="431800"/>
            <a:chOff x="1651000" y="2400300"/>
            <a:chExt cx="1930400" cy="431800"/>
          </a:xfrm>
        </p:grpSpPr>
        <p:sp>
          <p:nvSpPr>
            <p:cNvPr id="64" name="a:answer-ex 框"/>
            <p:cNvSpPr/>
            <p:nvPr/>
          </p:nvSpPr>
          <p:spPr>
            <a:xfrm>
              <a:off x="1651000" y="2400300"/>
              <a:ext cx="1930400" cy="431800"/>
            </a:xfrm>
            <a:prstGeom prst="roundRect">
              <a:avLst>
                <a:gd name="adj" fmla="val 5882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5" name="a:answer-ex 框"/>
            <p:cNvSpPr/>
            <p:nvPr/>
          </p:nvSpPr>
          <p:spPr>
            <a:xfrm>
              <a:off x="1901825" y="2492375"/>
              <a:ext cx="114300" cy="76200"/>
            </a:xfrm>
            <a:prstGeom prst="roundRect">
              <a:avLst>
                <a:gd name="adj" fmla="val 10000"/>
              </a:avLst>
            </a:pr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6" name="a:answer-ex 线"/>
            <p:cNvSpPr/>
            <p:nvPr/>
          </p:nvSpPr>
          <p:spPr>
            <a:xfrm>
              <a:off x="1930400" y="2568575"/>
              <a:ext cx="57150" cy="23812"/>
            </a:xfrm>
            <a:custGeom>
              <a:avLst/>
              <a:gdLst/>
              <a:ahLst/>
              <a:cxnLst/>
              <a:rect l="0" t="0" r="r" b="b"/>
              <a:pathLst>
                <a:path w="4500" h="1875" fill="none">
                  <a:moveTo>
                    <a:pt x="2250" y="0"/>
                  </a:moveTo>
                  <a:lnTo>
                    <a:pt x="2250" y="1875"/>
                  </a:lnTo>
                  <a:moveTo>
                    <a:pt x="0" y="1875"/>
                  </a:moveTo>
                  <a:lnTo>
                    <a:pt x="4500" y="1875"/>
                  </a:lnTo>
                </a:path>
              </a:pathLst>
            </a:cu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a:answer-ex 文字"/>
            <p:cNvSpPr txBox="1"/>
            <p:nvPr/>
          </p:nvSpPr>
          <p:spPr>
            <a:xfrm>
              <a:off x="1724279" y="2637917"/>
              <a:ext cx="469392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foothold</a:t>
              </a:r>
            </a:p>
          </p:txBody>
        </p:sp>
        <p:cxnSp>
          <p:nvCxnSpPr>
            <p:cNvPr id="68" name="a:answer-ex 线"/>
            <p:cNvCxnSpPr/>
            <p:nvPr/>
          </p:nvCxnSpPr>
          <p:spPr>
            <a:xfrm>
              <a:off x="2073275" y="2540000"/>
              <a:ext cx="209550" cy="0"/>
            </a:xfrm>
            <a:prstGeom prst="line">
              <a:avLst/>
            </a:prstGeom>
            <a:ln w="7620" cap="flat">
              <a:solidFill>
                <a:srgbClr val="5A5A5A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a:answer-ex 框"/>
            <p:cNvSpPr/>
            <p:nvPr/>
          </p:nvSpPr>
          <p:spPr>
            <a:xfrm>
              <a:off x="2349500" y="2482850"/>
              <a:ext cx="95250" cy="34290"/>
            </a:xfrm>
            <a:prstGeom prst="roundRect">
              <a:avLst>
                <a:gd name="adj" fmla="val 16666"/>
              </a:avLst>
            </a:pr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0" name="a:answer-ex 框"/>
            <p:cNvSpPr/>
            <p:nvPr/>
          </p:nvSpPr>
          <p:spPr>
            <a:xfrm>
              <a:off x="2349500" y="2522855"/>
              <a:ext cx="95250" cy="34290"/>
            </a:xfrm>
            <a:prstGeom prst="roundRect">
              <a:avLst>
                <a:gd name="adj" fmla="val 16666"/>
              </a:avLst>
            </a:pr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1" name="a:answer-ex 框"/>
            <p:cNvSpPr/>
            <p:nvPr/>
          </p:nvSpPr>
          <p:spPr>
            <a:xfrm>
              <a:off x="2349500" y="2562860"/>
              <a:ext cx="95250" cy="34290"/>
            </a:xfrm>
            <a:prstGeom prst="roundRect">
              <a:avLst>
                <a:gd name="adj" fmla="val 16666"/>
              </a:avLst>
            </a:pr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2" name="a:answer-ex 线"/>
            <p:cNvSpPr/>
            <p:nvPr/>
          </p:nvSpPr>
          <p:spPr>
            <a:xfrm>
              <a:off x="2368550" y="2499995"/>
              <a:ext cx="1905" cy="80010"/>
            </a:xfrm>
            <a:custGeom>
              <a:avLst/>
              <a:gdLst/>
              <a:ahLst/>
              <a:cxnLst/>
              <a:rect l="0" t="0" r="r" b="b"/>
              <a:pathLst>
                <a:path w="150" h="6300" fill="none">
                  <a:moveTo>
                    <a:pt x="0" y="0"/>
                  </a:moveTo>
                  <a:lnTo>
                    <a:pt x="150" y="0"/>
                  </a:lnTo>
                  <a:moveTo>
                    <a:pt x="0" y="3150"/>
                  </a:moveTo>
                  <a:lnTo>
                    <a:pt x="150" y="3150"/>
                  </a:lnTo>
                  <a:moveTo>
                    <a:pt x="0" y="6300"/>
                  </a:moveTo>
                  <a:lnTo>
                    <a:pt x="150" y="6300"/>
                  </a:lnTo>
                </a:path>
              </a:pathLst>
            </a:cu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a:answer-ex 文字"/>
            <p:cNvSpPr txBox="1"/>
            <p:nvPr/>
          </p:nvSpPr>
          <p:spPr>
            <a:xfrm>
              <a:off x="2221865" y="2637917"/>
              <a:ext cx="35052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pivot</a:t>
              </a:r>
            </a:p>
          </p:txBody>
        </p:sp>
        <p:cxnSp>
          <p:nvCxnSpPr>
            <p:cNvPr id="74" name="a:answer-ex 线"/>
            <p:cNvCxnSpPr/>
            <p:nvPr/>
          </p:nvCxnSpPr>
          <p:spPr>
            <a:xfrm>
              <a:off x="2511425" y="2540000"/>
              <a:ext cx="209550" cy="0"/>
            </a:xfrm>
            <a:prstGeom prst="line">
              <a:avLst/>
            </a:prstGeom>
            <a:ln w="7620" cap="flat">
              <a:solidFill>
                <a:srgbClr val="5A5A5A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a:answer-ex 线"/>
            <p:cNvSpPr/>
            <p:nvPr/>
          </p:nvSpPr>
          <p:spPr>
            <a:xfrm>
              <a:off x="2797175" y="2482850"/>
              <a:ext cx="80962" cy="114300"/>
            </a:xfrm>
            <a:custGeom>
              <a:avLst/>
              <a:gdLst/>
              <a:ahLst/>
              <a:cxnLst/>
              <a:rect l="0" t="0" r="r" b="b"/>
              <a:pathLst>
                <a:path w="6375" h="9000">
                  <a:moveTo>
                    <a:pt x="0" y="0"/>
                  </a:moveTo>
                  <a:lnTo>
                    <a:pt x="4125" y="0"/>
                  </a:lnTo>
                  <a:lnTo>
                    <a:pt x="6375" y="2250"/>
                  </a:lnTo>
                  <a:lnTo>
                    <a:pt x="6375" y="9000"/>
                  </a:lnTo>
                  <a:lnTo>
                    <a:pt x="0" y="9000"/>
                  </a:lnTo>
                  <a:close/>
                </a:path>
              </a:pathLst>
            </a:cu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a:answer-ex 线"/>
            <p:cNvSpPr/>
            <p:nvPr/>
          </p:nvSpPr>
          <p:spPr>
            <a:xfrm>
              <a:off x="2816225" y="2482850"/>
              <a:ext cx="61912" cy="98107"/>
            </a:xfrm>
            <a:custGeom>
              <a:avLst/>
              <a:gdLst/>
              <a:ahLst/>
              <a:cxnLst/>
              <a:rect l="0" t="0" r="r" b="b"/>
              <a:pathLst>
                <a:path w="4875" h="7724" fill="none">
                  <a:moveTo>
                    <a:pt x="2625" y="0"/>
                  </a:moveTo>
                  <a:lnTo>
                    <a:pt x="2625" y="2250"/>
                  </a:lnTo>
                  <a:lnTo>
                    <a:pt x="4875" y="2250"/>
                  </a:lnTo>
                  <a:moveTo>
                    <a:pt x="0" y="4500"/>
                  </a:moveTo>
                  <a:lnTo>
                    <a:pt x="3375" y="4500"/>
                  </a:lnTo>
                  <a:moveTo>
                    <a:pt x="0" y="6225"/>
                  </a:moveTo>
                  <a:lnTo>
                    <a:pt x="3375" y="6225"/>
                  </a:lnTo>
                  <a:moveTo>
                    <a:pt x="0" y="7725"/>
                  </a:moveTo>
                  <a:lnTo>
                    <a:pt x="2250" y="7725"/>
                  </a:lnTo>
                </a:path>
              </a:pathLst>
            </a:cu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a:answer-ex 文字"/>
            <p:cNvSpPr txBox="1"/>
            <p:nvPr/>
          </p:nvSpPr>
          <p:spPr>
            <a:xfrm>
              <a:off x="2590673" y="2637917"/>
              <a:ext cx="489203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find data</a:t>
              </a:r>
            </a:p>
          </p:txBody>
        </p:sp>
        <p:cxnSp>
          <p:nvCxnSpPr>
            <p:cNvPr id="78" name="a:answer-ex 线"/>
            <p:cNvCxnSpPr/>
            <p:nvPr/>
          </p:nvCxnSpPr>
          <p:spPr>
            <a:xfrm>
              <a:off x="2949575" y="2540000"/>
              <a:ext cx="209550" cy="0"/>
            </a:xfrm>
            <a:prstGeom prst="line">
              <a:avLst/>
            </a:prstGeom>
            <a:ln w="7620" cap="flat">
              <a:solidFill>
                <a:srgbClr val="5A5A5A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a:answer-ex 圆"/>
            <p:cNvSpPr/>
            <p:nvPr/>
          </p:nvSpPr>
          <p:spPr>
            <a:xfrm>
              <a:off x="3225800" y="2482850"/>
              <a:ext cx="95250" cy="34290"/>
            </a:xfrm>
            <a:prstGeom prst="ellipse">
              <a:avLst/>
            </a:prstGeom>
            <a:noFill/>
            <a:ln w="12700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0" name="a:answer-ex 线"/>
            <p:cNvSpPr/>
            <p:nvPr/>
          </p:nvSpPr>
          <p:spPr>
            <a:xfrm>
              <a:off x="3225800" y="2499995"/>
              <a:ext cx="95250" cy="97155"/>
            </a:xfrm>
            <a:custGeom>
              <a:avLst/>
              <a:gdLst/>
              <a:ahLst/>
              <a:cxnLst/>
              <a:rect l="0" t="0" r="r" b="b"/>
              <a:pathLst>
                <a:path w="7500" h="7650" fill="none">
                  <a:moveTo>
                    <a:pt x="0" y="0"/>
                  </a:moveTo>
                  <a:lnTo>
                    <a:pt x="0" y="6300"/>
                  </a:lnTo>
                  <a:cubicBezTo>
                    <a:pt x="0" y="7050"/>
                    <a:pt x="1650" y="7650"/>
                    <a:pt x="3750" y="7650"/>
                  </a:cubicBezTo>
                  <a:cubicBezTo>
                    <a:pt x="5850" y="7650"/>
                    <a:pt x="7500" y="7050"/>
                    <a:pt x="7500" y="6300"/>
                  </a:cubicBezTo>
                  <a:lnTo>
                    <a:pt x="7500" y="0"/>
                  </a:lnTo>
                  <a:moveTo>
                    <a:pt x="0" y="3150"/>
                  </a:moveTo>
                  <a:cubicBezTo>
                    <a:pt x="0" y="3900"/>
                    <a:pt x="1650" y="4500"/>
                    <a:pt x="3750" y="4500"/>
                  </a:cubicBezTo>
                  <a:cubicBezTo>
                    <a:pt x="5850" y="4500"/>
                    <a:pt x="7500" y="3900"/>
                    <a:pt x="7500" y="3150"/>
                  </a:cubicBezTo>
                </a:path>
              </a:pathLst>
            </a:custGeom>
            <a:noFill/>
            <a:ln w="12700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a:answer-ex 文字"/>
            <p:cNvSpPr txBox="1"/>
            <p:nvPr/>
          </p:nvSpPr>
          <p:spPr>
            <a:xfrm>
              <a:off x="2999105" y="2637917"/>
              <a:ext cx="548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exfiltrate</a:t>
              </a:r>
            </a:p>
          </p:txBody>
        </p:sp>
      </p:grpSp>
      <p:sp>
        <p:nvSpPr>
          <p:cNvPr id="82" name="a:title 文字"/>
          <p:cNvSpPr txBox="1"/>
          <p:nvPr/>
        </p:nvSpPr>
        <p:spPr>
          <a:xfrm>
            <a:off x="405892" y="16255"/>
            <a:ext cx="2871215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C2410C"/>
                </a:solidFill>
                <a:latin typeface="Helvetica Neue"/>
                <a:ea typeface="Microsoft YaHei"/>
              </a:rPr>
              <a:t>C</a:t>
            </a:r>
            <a:r>
              <a:rPr sz="800" b="1" i="0" dirty="0">
                <a:solidFill>
                  <a:srgbClr val="C2410C"/>
                </a:solidFill>
                <a:latin typeface="Helvetica Neue"/>
                <a:ea typeface="Microsoft YaHei"/>
              </a:rPr>
              <a:t>yber red-teaming via Constrained Creativity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</Words>
  <Application>Microsoft Macintosh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 Neue</vt:lpstr>
      <vt:lpstr>Menlo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Lesley Zhou</cp:lastModifiedBy>
  <cp:revision>2</cp:revision>
  <dcterms:created xsi:type="dcterms:W3CDTF">2013-01-27T09:14:16Z</dcterms:created>
  <dcterms:modified xsi:type="dcterms:W3CDTF">2026-10-07T16:02:52Z</dcterms:modified>
  <cp:category/>
</cp:coreProperties>
</file>